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9A0DA97-D035-42F4-AD1E-38CC646A5010}"/>
              </a:ext>
            </a:extLst>
          </p:cNvPr>
          <p:cNvSpPr>
            <a:spLocks noGrp="1"/>
          </p:cNvSpPr>
          <p:nvPr/>
        </p:nvSpPr>
        <p:spPr>
          <a:xfrm>
            <a:off x="609600" y="742950"/>
            <a:ext cx="7429500" cy="933450"/>
          </a:xfrm>
          <a:prstGeom prst="rect">
            <a:avLst/>
          </a:prstGeom>
          <a:noFill/>
          <a:ln w="0">
            <a:noFill/>
            <a:prstDash val="solid"/>
          </a:ln>
        </p:spPr>
        <p:txBody>
          <a:bodyPr/>
          <a:lstStyle/>
          <a:p>
            <a:pPr algn="l">
              <a:defRPr sz="5400" b="1">
                <a:solidFill>
                  <a:srgbClr val="111111"/>
                </a:solidFill>
              </a:defRPr>
            </a:pPr>
            <a:r>
              <a:rPr sz="5400" b="1">
                <a:solidFill>
                  <a:srgbClr val="111111"/>
                </a:solidFill>
              </a:rPr>
              <a:t>BikeMate</a:t>
            </a:r>
          </a:p>
        </p:txBody>
      </p:sp>
      <p:sp>
        <p:nvSpPr>
          <p:cNvPr id="2" name="Rectangle 1">
            <a:extLst>
              <a:ext uri="{FF2B5EF4-FFF2-40B4-BE49-F238E27FC236}">
                <a16:creationId xmlns:a16="http://schemas.microsoft.com/office/drawing/2014/main" id="{17EF54D6-6C69-4F9D-BF9D-4340124DD194}"/>
              </a:ext>
            </a:extLst>
          </p:cNvPr>
          <p:cNvSpPr>
            <a:spLocks noGrp="1"/>
          </p:cNvSpPr>
          <p:nvPr/>
        </p:nvSpPr>
        <p:spPr>
          <a:xfrm>
            <a:off x="647700" y="1752600"/>
            <a:ext cx="7239000" cy="419100"/>
          </a:xfrm>
          <a:prstGeom prst="rect">
            <a:avLst/>
          </a:prstGeom>
          <a:noFill/>
          <a:ln w="0">
            <a:noFill/>
            <a:prstDash val="solid"/>
          </a:ln>
        </p:spPr>
        <p:txBody>
          <a:bodyPr/>
          <a:lstStyle/>
          <a:p>
            <a:pPr algn="l">
              <a:defRPr sz="2100" b="0">
                <a:solidFill>
                  <a:srgbClr val="5F6268"/>
                </a:solidFill>
              </a:defRPr>
            </a:pPr>
            <a:r>
              <a:rPr sz="2100" b="0">
                <a:solidFill>
                  <a:srgbClr val="5F6268"/>
                </a:solidFill>
              </a:rPr>
              <a:t>Motorcycle Service Assistance System</a:t>
            </a:r>
          </a:p>
        </p:txBody>
      </p:sp>
      <p:sp>
        <p:nvSpPr>
          <p:cNvPr id="3" name="Rectangle 2">
            <a:extLst>
              <a:ext uri="{FF2B5EF4-FFF2-40B4-BE49-F238E27FC236}">
                <a16:creationId xmlns:a16="http://schemas.microsoft.com/office/drawing/2014/main" id="{C4C04E5D-3104-42CE-B92A-558A2C23B119}"/>
              </a:ext>
            </a:extLst>
          </p:cNvPr>
          <p:cNvSpPr>
            <a:spLocks noGrp="1"/>
          </p:cNvSpPr>
          <p:nvPr/>
        </p:nvSpPr>
        <p:spPr>
          <a:xfrm>
            <a:off x="647700" y="2381250"/>
            <a:ext cx="5334000" cy="323850"/>
          </a:xfrm>
          <a:prstGeom prst="rect">
            <a:avLst/>
          </a:prstGeom>
          <a:noFill/>
          <a:ln w="0">
            <a:noFill/>
            <a:prstDash val="solid"/>
          </a:ln>
        </p:spPr>
        <p:txBody>
          <a:bodyPr/>
          <a:lstStyle/>
          <a:p>
            <a:pPr algn="l">
              <a:defRPr sz="1650" b="1">
                <a:solidFill>
                  <a:srgbClr val="FF6B2C"/>
                </a:solidFill>
              </a:defRPr>
            </a:pPr>
            <a:r>
              <a:rPr sz="1650" b="1">
                <a:solidFill>
                  <a:srgbClr val="FF6B2C"/>
                </a:solidFill>
              </a:rPr>
              <a:t>Formal Project Presentation</a:t>
            </a:r>
          </a:p>
        </p:txBody>
      </p:sp>
      <p:sp>
        <p:nvSpPr>
          <p:cNvPr id="4" name="Rectangle 3">
            <a:extLst>
              <a:ext uri="{FF2B5EF4-FFF2-40B4-BE49-F238E27FC236}">
                <a16:creationId xmlns:a16="http://schemas.microsoft.com/office/drawing/2014/main" id="{427F722F-EBAA-4295-B932-D93BB6BD7FEE}"/>
              </a:ext>
            </a:extLst>
          </p:cNvPr>
          <p:cNvSpPr>
            <a:spLocks noGrp="1"/>
          </p:cNvSpPr>
          <p:nvPr/>
        </p:nvSpPr>
        <p:spPr>
          <a:xfrm>
            <a:off x="7524750" y="552450"/>
            <a:ext cx="3581400" cy="5619750"/>
          </a:xfrm>
          <a:prstGeom prst="rect">
            <a:avLst/>
          </a:prstGeom>
          <a:solidFill>
            <a:srgbClr val="202124"/>
          </a:solidFill>
          <a:ln w="9525">
            <a:solidFill>
              <a:srgbClr val="D8DBE0"/>
            </a:solidFill>
            <a:prstDash val="solid"/>
          </a:ln>
        </p:spPr>
        <p:txBody>
          <a:bodyPr/>
          <a:lstStyle/>
          <a:p>
            <a:endParaRPr lang="en-PH"/>
          </a:p>
        </p:txBody>
      </p:sp>
      <p:pic>
        <p:nvPicPr>
          <p:cNvPr id="14" name="Picture 13"/>
          <p:cNvPicPr>
            <a:picLocks noChangeAspect="1"/>
          </p:cNvPicPr>
          <p:nvPr/>
        </p:nvPicPr>
        <p:blipFill>
          <a:blip r:embed="rId3"/>
          <a:stretch/>
        </p:blipFill>
        <p:spPr>
          <a:xfrm>
            <a:off x="8153876" y="781050"/>
            <a:ext cx="2323148" cy="5162550"/>
          </a:xfrm>
          <a:prstGeom prst="rect">
            <a:avLst/>
          </a:prstGeom>
        </p:spPr>
      </p:pic>
      <p:sp>
        <p:nvSpPr>
          <p:cNvPr id="6" name="Rectangle 5">
            <a:extLst>
              <a:ext uri="{FF2B5EF4-FFF2-40B4-BE49-F238E27FC236}">
                <a16:creationId xmlns:a16="http://schemas.microsoft.com/office/drawing/2014/main" id="{41CC205E-4A7A-4BC9-9926-C41BE5A5410E}"/>
              </a:ext>
            </a:extLst>
          </p:cNvPr>
          <p:cNvSpPr>
            <a:spLocks noGrp="1"/>
          </p:cNvSpPr>
          <p:nvPr/>
        </p:nvSpPr>
        <p:spPr>
          <a:xfrm>
            <a:off x="647700" y="5353050"/>
            <a:ext cx="5715000" cy="285750"/>
          </a:xfrm>
          <a:prstGeom prst="rect">
            <a:avLst/>
          </a:prstGeom>
          <a:noFill/>
          <a:ln w="0">
            <a:noFill/>
            <a:prstDash val="solid"/>
          </a:ln>
        </p:spPr>
        <p:txBody>
          <a:bodyPr/>
          <a:lstStyle/>
          <a:p>
            <a:pPr algn="l">
              <a:defRPr sz="1500" b="1">
                <a:solidFill>
                  <a:srgbClr val="111111"/>
                </a:solidFill>
              </a:defRPr>
            </a:pPr>
            <a:r>
              <a:rPr sz="1500" b="1" dirty="0">
                <a:solidFill>
                  <a:srgbClr val="111111"/>
                </a:solidFill>
              </a:rPr>
              <a:t>Prepared by: </a:t>
            </a:r>
            <a:r>
              <a:rPr lang="en-PH" sz="1500" b="1" dirty="0">
                <a:solidFill>
                  <a:srgbClr val="111111"/>
                </a:solidFill>
              </a:rPr>
              <a:t>Group 10</a:t>
            </a:r>
            <a:endParaRPr sz="1500" b="1" dirty="0">
              <a:solidFill>
                <a:srgbClr val="111111"/>
              </a:solidFill>
            </a:endParaRPr>
          </a:p>
        </p:txBody>
      </p:sp>
      <p:sp>
        <p:nvSpPr>
          <p:cNvPr id="7" name="Rectangle 6">
            <a:extLst>
              <a:ext uri="{FF2B5EF4-FFF2-40B4-BE49-F238E27FC236}">
                <a16:creationId xmlns:a16="http://schemas.microsoft.com/office/drawing/2014/main" id="{43B3F804-F9A9-403B-8AF9-1B2830FEF5DD}"/>
              </a:ext>
            </a:extLst>
          </p:cNvPr>
          <p:cNvSpPr>
            <a:spLocks noGrp="1"/>
          </p:cNvSpPr>
          <p:nvPr/>
        </p:nvSpPr>
        <p:spPr>
          <a:xfrm>
            <a:off x="647700" y="5695950"/>
            <a:ext cx="7239000" cy="266700"/>
          </a:xfrm>
          <a:prstGeom prst="rect">
            <a:avLst/>
          </a:prstGeom>
          <a:noFill/>
          <a:ln w="0">
            <a:noFill/>
            <a:prstDash val="solid"/>
          </a:ln>
        </p:spPr>
        <p:txBody>
          <a:bodyPr/>
          <a:lstStyle/>
          <a:p>
            <a:pPr algn="l">
              <a:defRPr sz="1275" b="0">
                <a:solidFill>
                  <a:srgbClr val="5F6268"/>
                </a:solidFill>
              </a:defRPr>
            </a:pPr>
            <a:r>
              <a:rPr sz="1275" b="0">
                <a:solidFill>
                  <a:srgbClr val="5F6268"/>
                </a:solidFill>
              </a:rPr>
              <a:t>Members: [Member 1], [Member 2], [Member 3], [Member 4]</a:t>
            </a:r>
          </a:p>
        </p:txBody>
      </p:sp>
      <p:sp>
        <p:nvSpPr>
          <p:cNvPr id="8" name="Rectangle 7">
            <a:extLst>
              <a:ext uri="{FF2B5EF4-FFF2-40B4-BE49-F238E27FC236}">
                <a16:creationId xmlns:a16="http://schemas.microsoft.com/office/drawing/2014/main" id="{35DE05E2-CAA6-4845-8B1A-C360F19B784A}"/>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9" name="Rectangle 8">
            <a:extLst>
              <a:ext uri="{FF2B5EF4-FFF2-40B4-BE49-F238E27FC236}">
                <a16:creationId xmlns:a16="http://schemas.microsoft.com/office/drawing/2014/main" id="{4EE4A128-AFD9-473C-89C7-CFA7A72BE705}"/>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01</a:t>
            </a:r>
          </a:p>
        </p:txBody>
      </p:sp>
    </p:spTree>
    <p:extLst>
      <p:ext uri="{BB962C8B-B14F-4D97-AF65-F5344CB8AC3E}">
        <p14:creationId xmlns:p14="http://schemas.microsoft.com/office/powerpoint/2010/main" val="44154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0583029-A708-4059-827F-DEA736D927A3}"/>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9B777563-B409-4BD7-98AC-225F8AEAB5E2}"/>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presentation follows the project from problem to validated system.</a:t>
            </a:r>
          </a:p>
        </p:txBody>
      </p:sp>
      <p:sp>
        <p:nvSpPr>
          <p:cNvPr id="3" name="Rectangle 2">
            <a:extLst>
              <a:ext uri="{FF2B5EF4-FFF2-40B4-BE49-F238E27FC236}">
                <a16:creationId xmlns:a16="http://schemas.microsoft.com/office/drawing/2014/main" id="{0241928E-2C27-45EC-9FE5-2B73E99F3C31}"/>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B1FB93D9-EA38-4478-93E9-1E20092B6C7F}"/>
              </a:ext>
            </a:extLst>
          </p:cNvPr>
          <p:cNvSpPr>
            <a:spLocks noGrp="1"/>
          </p:cNvSpPr>
          <p:nvPr/>
        </p:nvSpPr>
        <p:spPr>
          <a:xfrm>
            <a:off x="800100" y="2095500"/>
            <a:ext cx="609600" cy="381000"/>
          </a:xfrm>
          <a:prstGeom prst="rect">
            <a:avLst/>
          </a:prstGeom>
          <a:noFill/>
          <a:ln w="0">
            <a:noFill/>
            <a:prstDash val="solid"/>
          </a:ln>
        </p:spPr>
        <p:txBody>
          <a:bodyPr/>
          <a:lstStyle/>
          <a:p>
            <a:pPr algn="l">
              <a:defRPr sz="1950" b="1">
                <a:solidFill>
                  <a:srgbClr val="FF6B2C"/>
                </a:solidFill>
              </a:defRPr>
            </a:pPr>
            <a:r>
              <a:rPr sz="1950" b="1">
                <a:solidFill>
                  <a:srgbClr val="FF6B2C"/>
                </a:solidFill>
              </a:rPr>
              <a:t>01</a:t>
            </a:r>
          </a:p>
        </p:txBody>
      </p:sp>
      <p:sp>
        <p:nvSpPr>
          <p:cNvPr id="5" name="Rectangle 4">
            <a:extLst>
              <a:ext uri="{FF2B5EF4-FFF2-40B4-BE49-F238E27FC236}">
                <a16:creationId xmlns:a16="http://schemas.microsoft.com/office/drawing/2014/main" id="{27ED6ED5-40A1-482A-A502-890077E4B80D}"/>
              </a:ext>
            </a:extLst>
          </p:cNvPr>
          <p:cNvSpPr>
            <a:spLocks noGrp="1"/>
          </p:cNvSpPr>
          <p:nvPr/>
        </p:nvSpPr>
        <p:spPr>
          <a:xfrm>
            <a:off x="1562100" y="2057400"/>
            <a:ext cx="2095500" cy="323850"/>
          </a:xfrm>
          <a:prstGeom prst="rect">
            <a:avLst/>
          </a:prstGeom>
          <a:noFill/>
          <a:ln w="0">
            <a:noFill/>
            <a:prstDash val="solid"/>
          </a:ln>
        </p:spPr>
        <p:txBody>
          <a:bodyPr/>
          <a:lstStyle/>
          <a:p>
            <a:pPr algn="l">
              <a:defRPr sz="1800" b="1">
                <a:solidFill>
                  <a:srgbClr val="111111"/>
                </a:solidFill>
              </a:defRPr>
            </a:pPr>
            <a:r>
              <a:rPr sz="1800" b="1">
                <a:solidFill>
                  <a:srgbClr val="111111"/>
                </a:solidFill>
              </a:rPr>
              <a:t>Context</a:t>
            </a:r>
          </a:p>
        </p:txBody>
      </p:sp>
      <p:sp>
        <p:nvSpPr>
          <p:cNvPr id="6" name="Rectangle 5">
            <a:extLst>
              <a:ext uri="{FF2B5EF4-FFF2-40B4-BE49-F238E27FC236}">
                <a16:creationId xmlns:a16="http://schemas.microsoft.com/office/drawing/2014/main" id="{004021E4-0B97-436E-8392-75D6D9C1E8DE}"/>
              </a:ext>
            </a:extLst>
          </p:cNvPr>
          <p:cNvSpPr>
            <a:spLocks noGrp="1"/>
          </p:cNvSpPr>
          <p:nvPr/>
        </p:nvSpPr>
        <p:spPr>
          <a:xfrm>
            <a:off x="3733800" y="2095500"/>
            <a:ext cx="6858000" cy="323850"/>
          </a:xfrm>
          <a:prstGeom prst="rect">
            <a:avLst/>
          </a:prstGeom>
          <a:noFill/>
          <a:ln w="0">
            <a:noFill/>
            <a:prstDash val="solid"/>
          </a:ln>
        </p:spPr>
        <p:txBody>
          <a:bodyPr/>
          <a:lstStyle/>
          <a:p>
            <a:pPr algn="l">
              <a:defRPr sz="1500" b="0">
                <a:solidFill>
                  <a:srgbClr val="5F6268"/>
                </a:solidFill>
              </a:defRPr>
            </a:pPr>
            <a:r>
              <a:rPr sz="1500" b="0">
                <a:solidFill>
                  <a:srgbClr val="5F6268"/>
                </a:solidFill>
              </a:rPr>
              <a:t>Why motorcycle service support needs a digital workflow</a:t>
            </a:r>
          </a:p>
        </p:txBody>
      </p:sp>
      <p:sp>
        <p:nvSpPr>
          <p:cNvPr id="7" name="Rectangle 6">
            <a:extLst>
              <a:ext uri="{FF2B5EF4-FFF2-40B4-BE49-F238E27FC236}">
                <a16:creationId xmlns:a16="http://schemas.microsoft.com/office/drawing/2014/main" id="{BFE7AA19-BD1C-47DB-9584-2C7C2F5D6D2C}"/>
              </a:ext>
            </a:extLst>
          </p:cNvPr>
          <p:cNvSpPr>
            <a:spLocks noGrp="1"/>
          </p:cNvSpPr>
          <p:nvPr/>
        </p:nvSpPr>
        <p:spPr>
          <a:xfrm>
            <a:off x="1562100" y="2552700"/>
            <a:ext cx="9048750" cy="9525"/>
          </a:xfrm>
          <a:prstGeom prst="rect">
            <a:avLst/>
          </a:prstGeom>
          <a:solidFill>
            <a:srgbClr val="B9BDC4"/>
          </a:solidFill>
          <a:ln w="0">
            <a:solidFill>
              <a:srgbClr val="B9BDC4"/>
            </a:solidFill>
            <a:prstDash val="solid"/>
          </a:ln>
        </p:spPr>
        <p:txBody>
          <a:bodyPr/>
          <a:lstStyle/>
          <a:p>
            <a:endParaRPr lang="en-PH"/>
          </a:p>
        </p:txBody>
      </p:sp>
      <p:sp>
        <p:nvSpPr>
          <p:cNvPr id="8" name="Rectangle 7">
            <a:extLst>
              <a:ext uri="{FF2B5EF4-FFF2-40B4-BE49-F238E27FC236}">
                <a16:creationId xmlns:a16="http://schemas.microsoft.com/office/drawing/2014/main" id="{79526951-E47C-4340-86A5-1627154C9115}"/>
              </a:ext>
            </a:extLst>
          </p:cNvPr>
          <p:cNvSpPr>
            <a:spLocks noGrp="1"/>
          </p:cNvSpPr>
          <p:nvPr/>
        </p:nvSpPr>
        <p:spPr>
          <a:xfrm>
            <a:off x="800100" y="2819400"/>
            <a:ext cx="609600" cy="381000"/>
          </a:xfrm>
          <a:prstGeom prst="rect">
            <a:avLst/>
          </a:prstGeom>
          <a:noFill/>
          <a:ln w="0">
            <a:noFill/>
            <a:prstDash val="solid"/>
          </a:ln>
        </p:spPr>
        <p:txBody>
          <a:bodyPr/>
          <a:lstStyle/>
          <a:p>
            <a:pPr algn="l">
              <a:defRPr sz="1950" b="1">
                <a:solidFill>
                  <a:srgbClr val="FF6B2C"/>
                </a:solidFill>
              </a:defRPr>
            </a:pPr>
            <a:r>
              <a:rPr sz="1950" b="1">
                <a:solidFill>
                  <a:srgbClr val="FF6B2C"/>
                </a:solidFill>
              </a:rPr>
              <a:t>02</a:t>
            </a:r>
          </a:p>
        </p:txBody>
      </p:sp>
      <p:sp>
        <p:nvSpPr>
          <p:cNvPr id="9" name="Rectangle 8">
            <a:extLst>
              <a:ext uri="{FF2B5EF4-FFF2-40B4-BE49-F238E27FC236}">
                <a16:creationId xmlns:a16="http://schemas.microsoft.com/office/drawing/2014/main" id="{512D038E-437C-4EDE-85CA-00ECE5C10467}"/>
              </a:ext>
            </a:extLst>
          </p:cNvPr>
          <p:cNvSpPr>
            <a:spLocks noGrp="1"/>
          </p:cNvSpPr>
          <p:nvPr/>
        </p:nvSpPr>
        <p:spPr>
          <a:xfrm>
            <a:off x="1562100" y="2781300"/>
            <a:ext cx="2095500" cy="323850"/>
          </a:xfrm>
          <a:prstGeom prst="rect">
            <a:avLst/>
          </a:prstGeom>
          <a:noFill/>
          <a:ln w="0">
            <a:noFill/>
            <a:prstDash val="solid"/>
          </a:ln>
        </p:spPr>
        <p:txBody>
          <a:bodyPr/>
          <a:lstStyle/>
          <a:p>
            <a:pPr algn="l">
              <a:defRPr sz="1800" b="1">
                <a:solidFill>
                  <a:srgbClr val="111111"/>
                </a:solidFill>
              </a:defRPr>
            </a:pPr>
            <a:r>
              <a:rPr sz="1800" b="1">
                <a:solidFill>
                  <a:srgbClr val="111111"/>
                </a:solidFill>
              </a:rPr>
              <a:t>Objectives</a:t>
            </a:r>
          </a:p>
        </p:txBody>
      </p:sp>
      <p:sp>
        <p:nvSpPr>
          <p:cNvPr id="10" name="Rectangle 9">
            <a:extLst>
              <a:ext uri="{FF2B5EF4-FFF2-40B4-BE49-F238E27FC236}">
                <a16:creationId xmlns:a16="http://schemas.microsoft.com/office/drawing/2014/main" id="{E8AE92AC-85BF-4AE0-95EE-26A715B72B56}"/>
              </a:ext>
            </a:extLst>
          </p:cNvPr>
          <p:cNvSpPr>
            <a:spLocks noGrp="1"/>
          </p:cNvSpPr>
          <p:nvPr/>
        </p:nvSpPr>
        <p:spPr>
          <a:xfrm>
            <a:off x="3733800" y="2819400"/>
            <a:ext cx="6858000" cy="323850"/>
          </a:xfrm>
          <a:prstGeom prst="rect">
            <a:avLst/>
          </a:prstGeom>
          <a:noFill/>
          <a:ln w="0">
            <a:noFill/>
            <a:prstDash val="solid"/>
          </a:ln>
        </p:spPr>
        <p:txBody>
          <a:bodyPr/>
          <a:lstStyle/>
          <a:p>
            <a:pPr algn="l">
              <a:defRPr sz="1500" b="0">
                <a:solidFill>
                  <a:srgbClr val="5F6268"/>
                </a:solidFill>
              </a:defRPr>
            </a:pPr>
            <a:r>
              <a:rPr sz="1500" b="0">
                <a:solidFill>
                  <a:srgbClr val="5F6268"/>
                </a:solidFill>
              </a:rPr>
              <a:t>What the system is designed to accomplish</a:t>
            </a:r>
          </a:p>
        </p:txBody>
      </p:sp>
      <p:sp>
        <p:nvSpPr>
          <p:cNvPr id="11" name="Rectangle 10">
            <a:extLst>
              <a:ext uri="{FF2B5EF4-FFF2-40B4-BE49-F238E27FC236}">
                <a16:creationId xmlns:a16="http://schemas.microsoft.com/office/drawing/2014/main" id="{E79CA375-0A34-479A-B1C7-C20BDCCBC6DB}"/>
              </a:ext>
            </a:extLst>
          </p:cNvPr>
          <p:cNvSpPr>
            <a:spLocks noGrp="1"/>
          </p:cNvSpPr>
          <p:nvPr/>
        </p:nvSpPr>
        <p:spPr>
          <a:xfrm>
            <a:off x="1562100" y="3276600"/>
            <a:ext cx="9048750" cy="9525"/>
          </a:xfrm>
          <a:prstGeom prst="rect">
            <a:avLst/>
          </a:prstGeom>
          <a:solidFill>
            <a:srgbClr val="B9BDC4"/>
          </a:solidFill>
          <a:ln w="0">
            <a:solidFill>
              <a:srgbClr val="B9BDC4"/>
            </a:solidFill>
            <a:prstDash val="solid"/>
          </a:ln>
        </p:spPr>
        <p:txBody>
          <a:bodyPr/>
          <a:lstStyle/>
          <a:p>
            <a:endParaRPr lang="en-PH"/>
          </a:p>
        </p:txBody>
      </p:sp>
      <p:sp>
        <p:nvSpPr>
          <p:cNvPr id="12" name="Rectangle 11">
            <a:extLst>
              <a:ext uri="{FF2B5EF4-FFF2-40B4-BE49-F238E27FC236}">
                <a16:creationId xmlns:a16="http://schemas.microsoft.com/office/drawing/2014/main" id="{9EF98826-BD7B-412B-8923-60CC934F9EBC}"/>
              </a:ext>
            </a:extLst>
          </p:cNvPr>
          <p:cNvSpPr>
            <a:spLocks noGrp="1"/>
          </p:cNvSpPr>
          <p:nvPr/>
        </p:nvSpPr>
        <p:spPr>
          <a:xfrm>
            <a:off x="800100" y="3543300"/>
            <a:ext cx="609600" cy="381000"/>
          </a:xfrm>
          <a:prstGeom prst="rect">
            <a:avLst/>
          </a:prstGeom>
          <a:noFill/>
          <a:ln w="0">
            <a:noFill/>
            <a:prstDash val="solid"/>
          </a:ln>
        </p:spPr>
        <p:txBody>
          <a:bodyPr/>
          <a:lstStyle/>
          <a:p>
            <a:pPr algn="l">
              <a:defRPr sz="1950" b="1">
                <a:solidFill>
                  <a:srgbClr val="FF6B2C"/>
                </a:solidFill>
              </a:defRPr>
            </a:pPr>
            <a:r>
              <a:rPr sz="1950" b="1">
                <a:solidFill>
                  <a:srgbClr val="FF6B2C"/>
                </a:solidFill>
              </a:rPr>
              <a:t>03</a:t>
            </a:r>
          </a:p>
        </p:txBody>
      </p:sp>
      <p:sp>
        <p:nvSpPr>
          <p:cNvPr id="13" name="Rectangle 12">
            <a:extLst>
              <a:ext uri="{FF2B5EF4-FFF2-40B4-BE49-F238E27FC236}">
                <a16:creationId xmlns:a16="http://schemas.microsoft.com/office/drawing/2014/main" id="{598CA1D9-8E14-4CE5-BA06-684FA3E1BBFE}"/>
              </a:ext>
            </a:extLst>
          </p:cNvPr>
          <p:cNvSpPr>
            <a:spLocks noGrp="1"/>
          </p:cNvSpPr>
          <p:nvPr/>
        </p:nvSpPr>
        <p:spPr>
          <a:xfrm>
            <a:off x="1562100" y="3505200"/>
            <a:ext cx="2095500" cy="323850"/>
          </a:xfrm>
          <a:prstGeom prst="rect">
            <a:avLst/>
          </a:prstGeom>
          <a:noFill/>
          <a:ln w="0">
            <a:noFill/>
            <a:prstDash val="solid"/>
          </a:ln>
        </p:spPr>
        <p:txBody>
          <a:bodyPr/>
          <a:lstStyle/>
          <a:p>
            <a:pPr algn="l">
              <a:defRPr sz="1800" b="1">
                <a:solidFill>
                  <a:srgbClr val="111111"/>
                </a:solidFill>
              </a:defRPr>
            </a:pPr>
            <a:r>
              <a:rPr sz="1800" b="1">
                <a:solidFill>
                  <a:srgbClr val="111111"/>
                </a:solidFill>
              </a:rPr>
              <a:t>Scope</a:t>
            </a:r>
          </a:p>
        </p:txBody>
      </p:sp>
      <p:sp>
        <p:nvSpPr>
          <p:cNvPr id="14" name="Rectangle 13">
            <a:extLst>
              <a:ext uri="{FF2B5EF4-FFF2-40B4-BE49-F238E27FC236}">
                <a16:creationId xmlns:a16="http://schemas.microsoft.com/office/drawing/2014/main" id="{AD3F165A-642D-4B2B-BE84-899F6A94C441}"/>
              </a:ext>
            </a:extLst>
          </p:cNvPr>
          <p:cNvSpPr>
            <a:spLocks noGrp="1"/>
          </p:cNvSpPr>
          <p:nvPr/>
        </p:nvSpPr>
        <p:spPr>
          <a:xfrm>
            <a:off x="3733800" y="3543300"/>
            <a:ext cx="6858000" cy="323850"/>
          </a:xfrm>
          <a:prstGeom prst="rect">
            <a:avLst/>
          </a:prstGeom>
          <a:noFill/>
          <a:ln w="0">
            <a:noFill/>
            <a:prstDash val="solid"/>
          </a:ln>
        </p:spPr>
        <p:txBody>
          <a:bodyPr/>
          <a:lstStyle/>
          <a:p>
            <a:pPr algn="l">
              <a:defRPr sz="1500" b="0">
                <a:solidFill>
                  <a:srgbClr val="5F6268"/>
                </a:solidFill>
              </a:defRPr>
            </a:pPr>
            <a:r>
              <a:rPr sz="1500" b="0">
                <a:solidFill>
                  <a:srgbClr val="5F6268"/>
                </a:solidFill>
              </a:rPr>
              <a:t>Which users, modules, and features are included</a:t>
            </a:r>
          </a:p>
        </p:txBody>
      </p:sp>
      <p:sp>
        <p:nvSpPr>
          <p:cNvPr id="15" name="Rectangle 14">
            <a:extLst>
              <a:ext uri="{FF2B5EF4-FFF2-40B4-BE49-F238E27FC236}">
                <a16:creationId xmlns:a16="http://schemas.microsoft.com/office/drawing/2014/main" id="{9CEFAC65-2A22-4B26-8D73-2BED7B5F0C00}"/>
              </a:ext>
            </a:extLst>
          </p:cNvPr>
          <p:cNvSpPr>
            <a:spLocks noGrp="1"/>
          </p:cNvSpPr>
          <p:nvPr/>
        </p:nvSpPr>
        <p:spPr>
          <a:xfrm>
            <a:off x="1562100" y="4000500"/>
            <a:ext cx="9048750" cy="9525"/>
          </a:xfrm>
          <a:prstGeom prst="rect">
            <a:avLst/>
          </a:prstGeom>
          <a:solidFill>
            <a:srgbClr val="B9BDC4"/>
          </a:solidFill>
          <a:ln w="0">
            <a:solidFill>
              <a:srgbClr val="B9BDC4"/>
            </a:solidFill>
            <a:prstDash val="solid"/>
          </a:ln>
        </p:spPr>
        <p:txBody>
          <a:bodyPr/>
          <a:lstStyle/>
          <a:p>
            <a:endParaRPr lang="en-PH"/>
          </a:p>
        </p:txBody>
      </p:sp>
      <p:sp>
        <p:nvSpPr>
          <p:cNvPr id="16" name="Rectangle 15">
            <a:extLst>
              <a:ext uri="{FF2B5EF4-FFF2-40B4-BE49-F238E27FC236}">
                <a16:creationId xmlns:a16="http://schemas.microsoft.com/office/drawing/2014/main" id="{D10EBB3C-4451-44A3-9B16-EEB79C869BA1}"/>
              </a:ext>
            </a:extLst>
          </p:cNvPr>
          <p:cNvSpPr>
            <a:spLocks noGrp="1"/>
          </p:cNvSpPr>
          <p:nvPr/>
        </p:nvSpPr>
        <p:spPr>
          <a:xfrm>
            <a:off x="800100" y="4267200"/>
            <a:ext cx="609600" cy="381000"/>
          </a:xfrm>
          <a:prstGeom prst="rect">
            <a:avLst/>
          </a:prstGeom>
          <a:noFill/>
          <a:ln w="0">
            <a:noFill/>
            <a:prstDash val="solid"/>
          </a:ln>
        </p:spPr>
        <p:txBody>
          <a:bodyPr/>
          <a:lstStyle/>
          <a:p>
            <a:pPr algn="l">
              <a:defRPr sz="1950" b="1">
                <a:solidFill>
                  <a:srgbClr val="FF6B2C"/>
                </a:solidFill>
              </a:defRPr>
            </a:pPr>
            <a:r>
              <a:rPr sz="1950" b="1">
                <a:solidFill>
                  <a:srgbClr val="FF6B2C"/>
                </a:solidFill>
              </a:rPr>
              <a:t>04</a:t>
            </a:r>
          </a:p>
        </p:txBody>
      </p:sp>
      <p:sp>
        <p:nvSpPr>
          <p:cNvPr id="17" name="Rectangle 16">
            <a:extLst>
              <a:ext uri="{FF2B5EF4-FFF2-40B4-BE49-F238E27FC236}">
                <a16:creationId xmlns:a16="http://schemas.microsoft.com/office/drawing/2014/main" id="{1C979382-0887-438A-B5D2-B0434C9F262A}"/>
              </a:ext>
            </a:extLst>
          </p:cNvPr>
          <p:cNvSpPr>
            <a:spLocks noGrp="1"/>
          </p:cNvSpPr>
          <p:nvPr/>
        </p:nvSpPr>
        <p:spPr>
          <a:xfrm>
            <a:off x="1562100" y="4229100"/>
            <a:ext cx="2095500" cy="323850"/>
          </a:xfrm>
          <a:prstGeom prst="rect">
            <a:avLst/>
          </a:prstGeom>
          <a:noFill/>
          <a:ln w="0">
            <a:noFill/>
            <a:prstDash val="solid"/>
          </a:ln>
        </p:spPr>
        <p:txBody>
          <a:bodyPr/>
          <a:lstStyle/>
          <a:p>
            <a:pPr algn="l">
              <a:defRPr sz="1800" b="1">
                <a:solidFill>
                  <a:srgbClr val="111111"/>
                </a:solidFill>
              </a:defRPr>
            </a:pPr>
            <a:r>
              <a:rPr sz="1800" b="1">
                <a:solidFill>
                  <a:srgbClr val="111111"/>
                </a:solidFill>
              </a:rPr>
              <a:t>Demonstration</a:t>
            </a:r>
          </a:p>
        </p:txBody>
      </p:sp>
      <p:sp>
        <p:nvSpPr>
          <p:cNvPr id="18" name="Rectangle 17">
            <a:extLst>
              <a:ext uri="{FF2B5EF4-FFF2-40B4-BE49-F238E27FC236}">
                <a16:creationId xmlns:a16="http://schemas.microsoft.com/office/drawing/2014/main" id="{2FA67732-D560-42D9-971C-7F330E4AD3DF}"/>
              </a:ext>
            </a:extLst>
          </p:cNvPr>
          <p:cNvSpPr>
            <a:spLocks noGrp="1"/>
          </p:cNvSpPr>
          <p:nvPr/>
        </p:nvSpPr>
        <p:spPr>
          <a:xfrm>
            <a:off x="3733800" y="4267200"/>
            <a:ext cx="6858000" cy="323850"/>
          </a:xfrm>
          <a:prstGeom prst="rect">
            <a:avLst/>
          </a:prstGeom>
          <a:noFill/>
          <a:ln w="0">
            <a:noFill/>
            <a:prstDash val="solid"/>
          </a:ln>
        </p:spPr>
        <p:txBody>
          <a:bodyPr/>
          <a:lstStyle/>
          <a:p>
            <a:pPr algn="l">
              <a:defRPr sz="1500" b="0">
                <a:solidFill>
                  <a:srgbClr val="5F6268"/>
                </a:solidFill>
              </a:defRPr>
            </a:pPr>
            <a:r>
              <a:rPr sz="1500" b="0">
                <a:solidFill>
                  <a:srgbClr val="5F6268"/>
                </a:solidFill>
              </a:rPr>
              <a:t>How the mobile, API, database, and web admin parts work</a:t>
            </a:r>
          </a:p>
        </p:txBody>
      </p:sp>
      <p:sp>
        <p:nvSpPr>
          <p:cNvPr id="19" name="Rectangle 18">
            <a:extLst>
              <a:ext uri="{FF2B5EF4-FFF2-40B4-BE49-F238E27FC236}">
                <a16:creationId xmlns:a16="http://schemas.microsoft.com/office/drawing/2014/main" id="{0653A0EF-1190-4316-A367-085A376F6FF8}"/>
              </a:ext>
            </a:extLst>
          </p:cNvPr>
          <p:cNvSpPr>
            <a:spLocks noGrp="1"/>
          </p:cNvSpPr>
          <p:nvPr/>
        </p:nvSpPr>
        <p:spPr>
          <a:xfrm>
            <a:off x="1562100" y="4724400"/>
            <a:ext cx="9048750" cy="9525"/>
          </a:xfrm>
          <a:prstGeom prst="rect">
            <a:avLst/>
          </a:prstGeom>
          <a:solidFill>
            <a:srgbClr val="B9BDC4"/>
          </a:solidFill>
          <a:ln w="0">
            <a:solidFill>
              <a:srgbClr val="B9BDC4"/>
            </a:solidFill>
            <a:prstDash val="solid"/>
          </a:ln>
        </p:spPr>
        <p:txBody>
          <a:bodyPr/>
          <a:lstStyle/>
          <a:p>
            <a:endParaRPr lang="en-PH"/>
          </a:p>
        </p:txBody>
      </p:sp>
      <p:sp>
        <p:nvSpPr>
          <p:cNvPr id="20" name="Rectangle 19">
            <a:extLst>
              <a:ext uri="{FF2B5EF4-FFF2-40B4-BE49-F238E27FC236}">
                <a16:creationId xmlns:a16="http://schemas.microsoft.com/office/drawing/2014/main" id="{129CBFE0-1CA7-4047-93FA-260E947C5677}"/>
              </a:ext>
            </a:extLst>
          </p:cNvPr>
          <p:cNvSpPr>
            <a:spLocks noGrp="1"/>
          </p:cNvSpPr>
          <p:nvPr/>
        </p:nvSpPr>
        <p:spPr>
          <a:xfrm>
            <a:off x="800100" y="4991100"/>
            <a:ext cx="609600" cy="381000"/>
          </a:xfrm>
          <a:prstGeom prst="rect">
            <a:avLst/>
          </a:prstGeom>
          <a:noFill/>
          <a:ln w="0">
            <a:noFill/>
            <a:prstDash val="solid"/>
          </a:ln>
        </p:spPr>
        <p:txBody>
          <a:bodyPr/>
          <a:lstStyle/>
          <a:p>
            <a:pPr algn="l">
              <a:defRPr sz="1950" b="1">
                <a:solidFill>
                  <a:srgbClr val="FF6B2C"/>
                </a:solidFill>
              </a:defRPr>
            </a:pPr>
            <a:r>
              <a:rPr sz="1950" b="1">
                <a:solidFill>
                  <a:srgbClr val="FF6B2C"/>
                </a:solidFill>
              </a:rPr>
              <a:t>05</a:t>
            </a:r>
          </a:p>
        </p:txBody>
      </p:sp>
      <p:sp>
        <p:nvSpPr>
          <p:cNvPr id="21" name="Rectangle 20">
            <a:extLst>
              <a:ext uri="{FF2B5EF4-FFF2-40B4-BE49-F238E27FC236}">
                <a16:creationId xmlns:a16="http://schemas.microsoft.com/office/drawing/2014/main" id="{1E78D6F0-5639-4DD0-BEF1-45814652EECF}"/>
              </a:ext>
            </a:extLst>
          </p:cNvPr>
          <p:cNvSpPr>
            <a:spLocks noGrp="1"/>
          </p:cNvSpPr>
          <p:nvPr/>
        </p:nvSpPr>
        <p:spPr>
          <a:xfrm>
            <a:off x="1562100" y="4953000"/>
            <a:ext cx="2095500" cy="323850"/>
          </a:xfrm>
          <a:prstGeom prst="rect">
            <a:avLst/>
          </a:prstGeom>
          <a:noFill/>
          <a:ln w="0">
            <a:noFill/>
            <a:prstDash val="solid"/>
          </a:ln>
        </p:spPr>
        <p:txBody>
          <a:bodyPr/>
          <a:lstStyle/>
          <a:p>
            <a:pPr algn="l">
              <a:defRPr sz="1800" b="1">
                <a:solidFill>
                  <a:srgbClr val="111111"/>
                </a:solidFill>
              </a:defRPr>
            </a:pPr>
            <a:r>
              <a:rPr sz="1800" b="1">
                <a:solidFill>
                  <a:srgbClr val="111111"/>
                </a:solidFill>
              </a:rPr>
              <a:t>Verification</a:t>
            </a:r>
          </a:p>
        </p:txBody>
      </p:sp>
      <p:sp>
        <p:nvSpPr>
          <p:cNvPr id="22" name="Rectangle 21">
            <a:extLst>
              <a:ext uri="{FF2B5EF4-FFF2-40B4-BE49-F238E27FC236}">
                <a16:creationId xmlns:a16="http://schemas.microsoft.com/office/drawing/2014/main" id="{83BBD63A-867F-47BD-9051-1B52DC116BED}"/>
              </a:ext>
            </a:extLst>
          </p:cNvPr>
          <p:cNvSpPr>
            <a:spLocks noGrp="1"/>
          </p:cNvSpPr>
          <p:nvPr/>
        </p:nvSpPr>
        <p:spPr>
          <a:xfrm>
            <a:off x="3733800" y="4991100"/>
            <a:ext cx="6858000" cy="323850"/>
          </a:xfrm>
          <a:prstGeom prst="rect">
            <a:avLst/>
          </a:prstGeom>
          <a:noFill/>
          <a:ln w="0">
            <a:noFill/>
            <a:prstDash val="solid"/>
          </a:ln>
        </p:spPr>
        <p:txBody>
          <a:bodyPr/>
          <a:lstStyle/>
          <a:p>
            <a:pPr algn="l">
              <a:defRPr sz="1500" b="0">
                <a:solidFill>
                  <a:srgbClr val="5F6268"/>
                </a:solidFill>
              </a:defRPr>
            </a:pPr>
            <a:r>
              <a:rPr sz="1500" b="0">
                <a:solidFill>
                  <a:srgbClr val="5F6268"/>
                </a:solidFill>
              </a:rPr>
              <a:t>What was tested and what remains for production deployment</a:t>
            </a:r>
          </a:p>
        </p:txBody>
      </p:sp>
      <p:sp>
        <p:nvSpPr>
          <p:cNvPr id="23" name="Rectangle 22">
            <a:extLst>
              <a:ext uri="{FF2B5EF4-FFF2-40B4-BE49-F238E27FC236}">
                <a16:creationId xmlns:a16="http://schemas.microsoft.com/office/drawing/2014/main" id="{BDDA763C-9798-4244-A9FC-335AEF1BF3C6}"/>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24" name="Rectangle 23">
            <a:extLst>
              <a:ext uri="{FF2B5EF4-FFF2-40B4-BE49-F238E27FC236}">
                <a16:creationId xmlns:a16="http://schemas.microsoft.com/office/drawing/2014/main" id="{D66AE2C8-AF37-4013-AA4D-B78411D4F609}"/>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02</a:t>
            </a:r>
          </a:p>
        </p:txBody>
      </p:sp>
    </p:spTree>
    <p:extLst>
      <p:ext uri="{BB962C8B-B14F-4D97-AF65-F5344CB8AC3E}">
        <p14:creationId xmlns:p14="http://schemas.microsoft.com/office/powerpoint/2010/main" val="835541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CE28050-A502-4C4C-90A4-2C19B1A5D481}"/>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908F6597-4DD2-41DC-A6A5-18AD9ABD04E1}"/>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BikeMate responds to a practical gap in motorcycle repair access.</a:t>
            </a:r>
          </a:p>
        </p:txBody>
      </p:sp>
      <p:sp>
        <p:nvSpPr>
          <p:cNvPr id="3" name="Rectangle 2">
            <a:extLst>
              <a:ext uri="{FF2B5EF4-FFF2-40B4-BE49-F238E27FC236}">
                <a16:creationId xmlns:a16="http://schemas.microsoft.com/office/drawing/2014/main" id="{9BFDFE05-5BF8-478E-9169-433E48075D81}"/>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B1BD945D-3297-43BE-AF91-CF7377E2239C}"/>
              </a:ext>
            </a:extLst>
          </p:cNvPr>
          <p:cNvSpPr>
            <a:spLocks noGrp="1"/>
          </p:cNvSpPr>
          <p:nvPr/>
        </p:nvSpPr>
        <p:spPr>
          <a:xfrm>
            <a:off x="704850" y="2133600"/>
            <a:ext cx="2667000" cy="323850"/>
          </a:xfrm>
          <a:prstGeom prst="rect">
            <a:avLst/>
          </a:prstGeom>
          <a:noFill/>
          <a:ln w="0">
            <a:noFill/>
            <a:prstDash val="solid"/>
          </a:ln>
        </p:spPr>
        <p:txBody>
          <a:bodyPr/>
          <a:lstStyle/>
          <a:p>
            <a:pPr algn="l">
              <a:defRPr sz="1950" b="1">
                <a:solidFill>
                  <a:srgbClr val="111111"/>
                </a:solidFill>
              </a:defRPr>
            </a:pPr>
            <a:r>
              <a:rPr sz="1950" b="1">
                <a:solidFill>
                  <a:srgbClr val="111111"/>
                </a:solidFill>
              </a:rPr>
              <a:t>Background</a:t>
            </a:r>
          </a:p>
        </p:txBody>
      </p:sp>
      <p:sp>
        <p:nvSpPr>
          <p:cNvPr id="5" name="Rectangle 4">
            <a:extLst>
              <a:ext uri="{FF2B5EF4-FFF2-40B4-BE49-F238E27FC236}">
                <a16:creationId xmlns:a16="http://schemas.microsoft.com/office/drawing/2014/main" id="{658089F0-EAAB-4E75-8ED8-E845AB36EF0B}"/>
              </a:ext>
            </a:extLst>
          </p:cNvPr>
          <p:cNvSpPr>
            <a:spLocks noGrp="1"/>
          </p:cNvSpPr>
          <p:nvPr/>
        </p:nvSpPr>
        <p:spPr>
          <a:xfrm>
            <a:off x="704850" y="2571750"/>
            <a:ext cx="4667250" cy="1428750"/>
          </a:xfrm>
          <a:prstGeom prst="rect">
            <a:avLst/>
          </a:prstGeom>
          <a:noFill/>
          <a:ln w="0">
            <a:noFill/>
            <a:prstDash val="solid"/>
          </a:ln>
        </p:spPr>
        <p:txBody>
          <a:bodyPr/>
          <a:lstStyle/>
          <a:p>
            <a:pPr algn="l">
              <a:defRPr sz="1650" b="0">
                <a:solidFill>
                  <a:srgbClr val="111111"/>
                </a:solidFill>
              </a:defRPr>
            </a:pPr>
            <a:r>
              <a:rPr sz="1650" b="0">
                <a:solidFill>
                  <a:srgbClr val="111111"/>
                </a:solidFill>
              </a:rPr>
              <a:t>Motorcycle riders often need repair help quickly, but available shops, trusted mechanics, price expectations, status updates, and emergency support are usually fragmented across calls, referrals, and manual searching.</a:t>
            </a:r>
          </a:p>
        </p:txBody>
      </p:sp>
      <p:sp>
        <p:nvSpPr>
          <p:cNvPr id="6" name="Rectangle 5">
            <a:extLst>
              <a:ext uri="{FF2B5EF4-FFF2-40B4-BE49-F238E27FC236}">
                <a16:creationId xmlns:a16="http://schemas.microsoft.com/office/drawing/2014/main" id="{15A0F496-E77D-4468-A78F-9DDE27F65A99}"/>
              </a:ext>
            </a:extLst>
          </p:cNvPr>
          <p:cNvSpPr>
            <a:spLocks noGrp="1"/>
          </p:cNvSpPr>
          <p:nvPr/>
        </p:nvSpPr>
        <p:spPr>
          <a:xfrm>
            <a:off x="6096000" y="2133600"/>
            <a:ext cx="4762500" cy="2857500"/>
          </a:xfrm>
          <a:prstGeom prst="rect">
            <a:avLst/>
          </a:prstGeom>
          <a:solidFill>
            <a:srgbClr val="FFF1EA"/>
          </a:solidFill>
          <a:ln w="9525">
            <a:solidFill>
              <a:srgbClr val="D8DBE0"/>
            </a:solidFill>
            <a:prstDash val="solid"/>
          </a:ln>
        </p:spPr>
        <p:txBody>
          <a:bodyPr/>
          <a:lstStyle/>
          <a:p>
            <a:endParaRPr lang="en-PH"/>
          </a:p>
        </p:txBody>
      </p:sp>
      <p:sp>
        <p:nvSpPr>
          <p:cNvPr id="7" name="Rectangle 6">
            <a:extLst>
              <a:ext uri="{FF2B5EF4-FFF2-40B4-BE49-F238E27FC236}">
                <a16:creationId xmlns:a16="http://schemas.microsoft.com/office/drawing/2014/main" id="{AF61AC07-E66A-45E9-BE5E-32B555E231AE}"/>
              </a:ext>
            </a:extLst>
          </p:cNvPr>
          <p:cNvSpPr>
            <a:spLocks noGrp="1"/>
          </p:cNvSpPr>
          <p:nvPr/>
        </p:nvSpPr>
        <p:spPr>
          <a:xfrm>
            <a:off x="6477000" y="2638425"/>
            <a:ext cx="76200" cy="76200"/>
          </a:xfrm>
          <a:prstGeom prst="rect">
            <a:avLst/>
          </a:prstGeom>
          <a:solidFill>
            <a:srgbClr val="FF6B2C"/>
          </a:solidFill>
          <a:ln w="0">
            <a:solidFill>
              <a:srgbClr val="FF6B2C"/>
            </a:solidFill>
            <a:prstDash val="solid"/>
          </a:ln>
        </p:spPr>
        <p:txBody>
          <a:bodyPr/>
          <a:lstStyle/>
          <a:p>
            <a:endParaRPr lang="en-PH"/>
          </a:p>
        </p:txBody>
      </p:sp>
      <p:sp>
        <p:nvSpPr>
          <p:cNvPr id="8" name="Rectangle 7">
            <a:extLst>
              <a:ext uri="{FF2B5EF4-FFF2-40B4-BE49-F238E27FC236}">
                <a16:creationId xmlns:a16="http://schemas.microsoft.com/office/drawing/2014/main" id="{C5E0FBEF-3CE5-4B69-AA61-B46C036B6654}"/>
              </a:ext>
            </a:extLst>
          </p:cNvPr>
          <p:cNvSpPr>
            <a:spLocks noGrp="1"/>
          </p:cNvSpPr>
          <p:nvPr/>
        </p:nvSpPr>
        <p:spPr>
          <a:xfrm>
            <a:off x="6686550" y="2552700"/>
            <a:ext cx="3743325" cy="495300"/>
          </a:xfrm>
          <a:prstGeom prst="rect">
            <a:avLst/>
          </a:prstGeom>
          <a:noFill/>
          <a:ln w="0">
            <a:noFill/>
            <a:prstDash val="solid"/>
          </a:ln>
        </p:spPr>
        <p:txBody>
          <a:bodyPr/>
          <a:lstStyle/>
          <a:p>
            <a:pPr algn="l">
              <a:defRPr sz="1500" b="0">
                <a:solidFill>
                  <a:srgbClr val="111111"/>
                </a:solidFill>
              </a:defRPr>
            </a:pPr>
            <a:r>
              <a:rPr sz="1500" b="0">
                <a:solidFill>
                  <a:srgbClr val="111111"/>
                </a:solidFill>
              </a:rPr>
              <a:t>Customers need faster discovery and clearer repair tracking.</a:t>
            </a:r>
          </a:p>
        </p:txBody>
      </p:sp>
      <p:sp>
        <p:nvSpPr>
          <p:cNvPr id="9" name="Rectangle 8">
            <a:extLst>
              <a:ext uri="{FF2B5EF4-FFF2-40B4-BE49-F238E27FC236}">
                <a16:creationId xmlns:a16="http://schemas.microsoft.com/office/drawing/2014/main" id="{62B170F1-ABF5-4758-90A3-918E86F2C9C5}"/>
              </a:ext>
            </a:extLst>
          </p:cNvPr>
          <p:cNvSpPr>
            <a:spLocks noGrp="1"/>
          </p:cNvSpPr>
          <p:nvPr/>
        </p:nvSpPr>
        <p:spPr>
          <a:xfrm>
            <a:off x="6477000" y="3152775"/>
            <a:ext cx="76200" cy="76200"/>
          </a:xfrm>
          <a:prstGeom prst="rect">
            <a:avLst/>
          </a:prstGeom>
          <a:solidFill>
            <a:srgbClr val="FF6B2C"/>
          </a:solidFill>
          <a:ln w="0">
            <a:solidFill>
              <a:srgbClr val="FF6B2C"/>
            </a:solidFill>
            <a:prstDash val="solid"/>
          </a:ln>
        </p:spPr>
        <p:txBody>
          <a:bodyPr/>
          <a:lstStyle/>
          <a:p>
            <a:endParaRPr lang="en-PH"/>
          </a:p>
        </p:txBody>
      </p:sp>
      <p:sp>
        <p:nvSpPr>
          <p:cNvPr id="10" name="Rectangle 9">
            <a:extLst>
              <a:ext uri="{FF2B5EF4-FFF2-40B4-BE49-F238E27FC236}">
                <a16:creationId xmlns:a16="http://schemas.microsoft.com/office/drawing/2014/main" id="{C5BD2A50-9C8C-4A11-AA3A-A5039007EA80}"/>
              </a:ext>
            </a:extLst>
          </p:cNvPr>
          <p:cNvSpPr>
            <a:spLocks noGrp="1"/>
          </p:cNvSpPr>
          <p:nvPr/>
        </p:nvSpPr>
        <p:spPr>
          <a:xfrm>
            <a:off x="6686550" y="3067050"/>
            <a:ext cx="3743325" cy="495300"/>
          </a:xfrm>
          <a:prstGeom prst="rect">
            <a:avLst/>
          </a:prstGeom>
          <a:noFill/>
          <a:ln w="0">
            <a:noFill/>
            <a:prstDash val="solid"/>
          </a:ln>
        </p:spPr>
        <p:txBody>
          <a:bodyPr/>
          <a:lstStyle/>
          <a:p>
            <a:pPr algn="l">
              <a:defRPr sz="1500" b="0">
                <a:solidFill>
                  <a:srgbClr val="111111"/>
                </a:solidFill>
              </a:defRPr>
            </a:pPr>
            <a:r>
              <a:rPr sz="1500" b="0">
                <a:solidFill>
                  <a:srgbClr val="111111"/>
                </a:solidFill>
              </a:rPr>
              <a:t>Mechanics need organized job assignment and status tools.</a:t>
            </a:r>
          </a:p>
        </p:txBody>
      </p:sp>
      <p:sp>
        <p:nvSpPr>
          <p:cNvPr id="11" name="Rectangle 10">
            <a:extLst>
              <a:ext uri="{FF2B5EF4-FFF2-40B4-BE49-F238E27FC236}">
                <a16:creationId xmlns:a16="http://schemas.microsoft.com/office/drawing/2014/main" id="{9D9702AF-BD2B-4BD1-B535-499C05DA5697}"/>
              </a:ext>
            </a:extLst>
          </p:cNvPr>
          <p:cNvSpPr>
            <a:spLocks noGrp="1"/>
          </p:cNvSpPr>
          <p:nvPr/>
        </p:nvSpPr>
        <p:spPr>
          <a:xfrm>
            <a:off x="6477000" y="3667125"/>
            <a:ext cx="76200" cy="76200"/>
          </a:xfrm>
          <a:prstGeom prst="rect">
            <a:avLst/>
          </a:prstGeom>
          <a:solidFill>
            <a:srgbClr val="FF6B2C"/>
          </a:solidFill>
          <a:ln w="0">
            <a:solidFill>
              <a:srgbClr val="FF6B2C"/>
            </a:solidFill>
            <a:prstDash val="solid"/>
          </a:ln>
        </p:spPr>
        <p:txBody>
          <a:bodyPr/>
          <a:lstStyle/>
          <a:p>
            <a:endParaRPr lang="en-PH"/>
          </a:p>
        </p:txBody>
      </p:sp>
      <p:sp>
        <p:nvSpPr>
          <p:cNvPr id="12" name="Rectangle 11">
            <a:extLst>
              <a:ext uri="{FF2B5EF4-FFF2-40B4-BE49-F238E27FC236}">
                <a16:creationId xmlns:a16="http://schemas.microsoft.com/office/drawing/2014/main" id="{B943FA84-62DD-4C12-87CB-99414F4BDF6F}"/>
              </a:ext>
            </a:extLst>
          </p:cNvPr>
          <p:cNvSpPr>
            <a:spLocks noGrp="1"/>
          </p:cNvSpPr>
          <p:nvPr/>
        </p:nvSpPr>
        <p:spPr>
          <a:xfrm>
            <a:off x="6686550" y="3581400"/>
            <a:ext cx="3743325" cy="495300"/>
          </a:xfrm>
          <a:prstGeom prst="rect">
            <a:avLst/>
          </a:prstGeom>
          <a:noFill/>
          <a:ln w="0">
            <a:noFill/>
            <a:prstDash val="solid"/>
          </a:ln>
        </p:spPr>
        <p:txBody>
          <a:bodyPr/>
          <a:lstStyle/>
          <a:p>
            <a:pPr algn="l">
              <a:defRPr sz="1500" b="0">
                <a:solidFill>
                  <a:srgbClr val="111111"/>
                </a:solidFill>
              </a:defRPr>
            </a:pPr>
            <a:r>
              <a:rPr sz="1500" b="0">
                <a:solidFill>
                  <a:srgbClr val="111111"/>
                </a:solidFill>
              </a:rPr>
              <a:t>Shops need a way to manage services, bookings, products, and reputation.</a:t>
            </a:r>
          </a:p>
        </p:txBody>
      </p:sp>
      <p:sp>
        <p:nvSpPr>
          <p:cNvPr id="13" name="Rectangle 12">
            <a:extLst>
              <a:ext uri="{FF2B5EF4-FFF2-40B4-BE49-F238E27FC236}">
                <a16:creationId xmlns:a16="http://schemas.microsoft.com/office/drawing/2014/main" id="{A743B602-27A7-49E2-BAEC-AA1F1E2AB513}"/>
              </a:ext>
            </a:extLst>
          </p:cNvPr>
          <p:cNvSpPr>
            <a:spLocks noGrp="1"/>
          </p:cNvSpPr>
          <p:nvPr/>
        </p:nvSpPr>
        <p:spPr>
          <a:xfrm>
            <a:off x="6477000" y="4181475"/>
            <a:ext cx="76200" cy="76200"/>
          </a:xfrm>
          <a:prstGeom prst="rect">
            <a:avLst/>
          </a:prstGeom>
          <a:solidFill>
            <a:srgbClr val="FF6B2C"/>
          </a:solidFill>
          <a:ln w="0">
            <a:solidFill>
              <a:srgbClr val="FF6B2C"/>
            </a:solidFill>
            <a:prstDash val="solid"/>
          </a:ln>
        </p:spPr>
        <p:txBody>
          <a:bodyPr/>
          <a:lstStyle/>
          <a:p>
            <a:endParaRPr lang="en-PH"/>
          </a:p>
        </p:txBody>
      </p:sp>
      <p:sp>
        <p:nvSpPr>
          <p:cNvPr id="14" name="Rectangle 13">
            <a:extLst>
              <a:ext uri="{FF2B5EF4-FFF2-40B4-BE49-F238E27FC236}">
                <a16:creationId xmlns:a16="http://schemas.microsoft.com/office/drawing/2014/main" id="{6CA84202-2628-4171-B718-3FC0F439C5CF}"/>
              </a:ext>
            </a:extLst>
          </p:cNvPr>
          <p:cNvSpPr>
            <a:spLocks noGrp="1"/>
          </p:cNvSpPr>
          <p:nvPr/>
        </p:nvSpPr>
        <p:spPr>
          <a:xfrm>
            <a:off x="6686550" y="4095750"/>
            <a:ext cx="3743325" cy="495300"/>
          </a:xfrm>
          <a:prstGeom prst="rect">
            <a:avLst/>
          </a:prstGeom>
          <a:noFill/>
          <a:ln w="0">
            <a:noFill/>
            <a:prstDash val="solid"/>
          </a:ln>
        </p:spPr>
        <p:txBody>
          <a:bodyPr/>
          <a:lstStyle/>
          <a:p>
            <a:pPr algn="l">
              <a:defRPr sz="1500" b="0">
                <a:solidFill>
                  <a:srgbClr val="111111"/>
                </a:solidFill>
              </a:defRPr>
            </a:pPr>
            <a:r>
              <a:rPr sz="1500" b="0">
                <a:solidFill>
                  <a:srgbClr val="111111"/>
                </a:solidFill>
              </a:rPr>
              <a:t>Administrators need verification and monitoring controls.</a:t>
            </a:r>
          </a:p>
        </p:txBody>
      </p:sp>
      <p:sp>
        <p:nvSpPr>
          <p:cNvPr id="15" name="Rectangle 14">
            <a:extLst>
              <a:ext uri="{FF2B5EF4-FFF2-40B4-BE49-F238E27FC236}">
                <a16:creationId xmlns:a16="http://schemas.microsoft.com/office/drawing/2014/main" id="{DA8363C3-4A4C-4697-8B9F-BEBD92C52198}"/>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16" name="Rectangle 15">
            <a:extLst>
              <a:ext uri="{FF2B5EF4-FFF2-40B4-BE49-F238E27FC236}">
                <a16:creationId xmlns:a16="http://schemas.microsoft.com/office/drawing/2014/main" id="{8C9709AC-1AAE-486B-821E-0DA764B53AA1}"/>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03</a:t>
            </a:r>
          </a:p>
        </p:txBody>
      </p:sp>
    </p:spTree>
    <p:extLst>
      <p:ext uri="{BB962C8B-B14F-4D97-AF65-F5344CB8AC3E}">
        <p14:creationId xmlns:p14="http://schemas.microsoft.com/office/powerpoint/2010/main" val="826923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78F7F71-CDE3-4A58-B233-4A3619D83877}"/>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C07E98FD-774B-4FE2-9E82-936F69350D50}"/>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project objective is to connect riders, shops, mechanics, and administrators.</a:t>
            </a:r>
          </a:p>
        </p:txBody>
      </p:sp>
      <p:sp>
        <p:nvSpPr>
          <p:cNvPr id="3" name="Rectangle 2">
            <a:extLst>
              <a:ext uri="{FF2B5EF4-FFF2-40B4-BE49-F238E27FC236}">
                <a16:creationId xmlns:a16="http://schemas.microsoft.com/office/drawing/2014/main" id="{F3928988-A27D-4D72-8E0B-9A98EAC9DB93}"/>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4A9E8950-9672-4961-926F-F227B9C89EDF}"/>
              </a:ext>
            </a:extLst>
          </p:cNvPr>
          <p:cNvSpPr>
            <a:spLocks noGrp="1"/>
          </p:cNvSpPr>
          <p:nvPr/>
        </p:nvSpPr>
        <p:spPr>
          <a:xfrm>
            <a:off x="666750" y="2171700"/>
            <a:ext cx="4381500" cy="2857500"/>
          </a:xfrm>
          <a:prstGeom prst="rect">
            <a:avLst/>
          </a:prstGeom>
          <a:solidFill>
            <a:srgbClr val="FAFAFA"/>
          </a:solidFill>
          <a:ln w="9525">
            <a:solidFill>
              <a:srgbClr val="D8DBE0"/>
            </a:solidFill>
            <a:prstDash val="solid"/>
          </a:ln>
        </p:spPr>
        <p:txBody>
          <a:bodyPr/>
          <a:lstStyle/>
          <a:p>
            <a:endParaRPr lang="en-PH"/>
          </a:p>
        </p:txBody>
      </p:sp>
      <p:sp>
        <p:nvSpPr>
          <p:cNvPr id="5" name="Rectangle 4">
            <a:extLst>
              <a:ext uri="{FF2B5EF4-FFF2-40B4-BE49-F238E27FC236}">
                <a16:creationId xmlns:a16="http://schemas.microsoft.com/office/drawing/2014/main" id="{A7629C1B-3F22-4672-A1E6-9B18645C713B}"/>
              </a:ext>
            </a:extLst>
          </p:cNvPr>
          <p:cNvSpPr>
            <a:spLocks noGrp="1"/>
          </p:cNvSpPr>
          <p:nvPr/>
        </p:nvSpPr>
        <p:spPr>
          <a:xfrm>
            <a:off x="990600" y="2495550"/>
            <a:ext cx="3333750" cy="342900"/>
          </a:xfrm>
          <a:prstGeom prst="rect">
            <a:avLst/>
          </a:prstGeom>
          <a:noFill/>
          <a:ln w="0">
            <a:noFill/>
            <a:prstDash val="solid"/>
          </a:ln>
        </p:spPr>
        <p:txBody>
          <a:bodyPr/>
          <a:lstStyle/>
          <a:p>
            <a:pPr algn="l">
              <a:defRPr sz="2100" b="1">
                <a:solidFill>
                  <a:srgbClr val="111111"/>
                </a:solidFill>
              </a:defRPr>
            </a:pPr>
            <a:r>
              <a:rPr sz="2100" b="1">
                <a:solidFill>
                  <a:srgbClr val="111111"/>
                </a:solidFill>
              </a:rPr>
              <a:t>General Objective</a:t>
            </a:r>
          </a:p>
        </p:txBody>
      </p:sp>
      <p:sp>
        <p:nvSpPr>
          <p:cNvPr id="6" name="Rectangle 5">
            <a:extLst>
              <a:ext uri="{FF2B5EF4-FFF2-40B4-BE49-F238E27FC236}">
                <a16:creationId xmlns:a16="http://schemas.microsoft.com/office/drawing/2014/main" id="{8CA116B3-FD2C-46EE-A19C-06A19C5AAA20}"/>
              </a:ext>
            </a:extLst>
          </p:cNvPr>
          <p:cNvSpPr>
            <a:spLocks noGrp="1"/>
          </p:cNvSpPr>
          <p:nvPr/>
        </p:nvSpPr>
        <p:spPr>
          <a:xfrm>
            <a:off x="990600" y="3028950"/>
            <a:ext cx="3619500" cy="1333500"/>
          </a:xfrm>
          <a:prstGeom prst="rect">
            <a:avLst/>
          </a:prstGeom>
          <a:noFill/>
          <a:ln w="0">
            <a:noFill/>
            <a:prstDash val="solid"/>
          </a:ln>
        </p:spPr>
        <p:txBody>
          <a:bodyPr/>
          <a:lstStyle/>
          <a:p>
            <a:pPr algn="l">
              <a:defRPr sz="1650" b="0">
                <a:solidFill>
                  <a:srgbClr val="111111"/>
                </a:solidFill>
              </a:defRPr>
            </a:pPr>
            <a:r>
              <a:rPr sz="1650" b="0">
                <a:solidFill>
                  <a:srgbClr val="111111"/>
                </a:solidFill>
              </a:rPr>
              <a:t>Develop a motorcycle service assistance platform that supports service booking, emergency repair requests, real-time communication, payment tracking, and platform administration.</a:t>
            </a:r>
          </a:p>
        </p:txBody>
      </p:sp>
      <p:sp>
        <p:nvSpPr>
          <p:cNvPr id="7" name="Rectangle 6">
            <a:extLst>
              <a:ext uri="{FF2B5EF4-FFF2-40B4-BE49-F238E27FC236}">
                <a16:creationId xmlns:a16="http://schemas.microsoft.com/office/drawing/2014/main" id="{C2BE08EE-9DB0-4B07-A746-F8892EF1FD75}"/>
              </a:ext>
            </a:extLst>
          </p:cNvPr>
          <p:cNvSpPr>
            <a:spLocks noGrp="1"/>
          </p:cNvSpPr>
          <p:nvPr/>
        </p:nvSpPr>
        <p:spPr>
          <a:xfrm>
            <a:off x="5810250" y="2152650"/>
            <a:ext cx="4000500" cy="342900"/>
          </a:xfrm>
          <a:prstGeom prst="rect">
            <a:avLst/>
          </a:prstGeom>
          <a:noFill/>
          <a:ln w="0">
            <a:noFill/>
            <a:prstDash val="solid"/>
          </a:ln>
        </p:spPr>
        <p:txBody>
          <a:bodyPr/>
          <a:lstStyle/>
          <a:p>
            <a:pPr algn="l">
              <a:defRPr sz="2100" b="1">
                <a:solidFill>
                  <a:srgbClr val="111111"/>
                </a:solidFill>
              </a:defRPr>
            </a:pPr>
            <a:r>
              <a:rPr sz="2100" b="1">
                <a:solidFill>
                  <a:srgbClr val="111111"/>
                </a:solidFill>
              </a:rPr>
              <a:t>Specific Objectives</a:t>
            </a:r>
          </a:p>
        </p:txBody>
      </p:sp>
      <p:sp>
        <p:nvSpPr>
          <p:cNvPr id="8" name="Rectangle 7">
            <a:extLst>
              <a:ext uri="{FF2B5EF4-FFF2-40B4-BE49-F238E27FC236}">
                <a16:creationId xmlns:a16="http://schemas.microsoft.com/office/drawing/2014/main" id="{7F461F4D-B298-46A7-838C-D3B0BD663052}"/>
              </a:ext>
            </a:extLst>
          </p:cNvPr>
          <p:cNvSpPr>
            <a:spLocks noGrp="1"/>
          </p:cNvSpPr>
          <p:nvPr/>
        </p:nvSpPr>
        <p:spPr>
          <a:xfrm>
            <a:off x="5867400" y="2809875"/>
            <a:ext cx="76200" cy="76200"/>
          </a:xfrm>
          <a:prstGeom prst="rect">
            <a:avLst/>
          </a:prstGeom>
          <a:solidFill>
            <a:srgbClr val="FF6B2C"/>
          </a:solidFill>
          <a:ln w="0">
            <a:solidFill>
              <a:srgbClr val="FF6B2C"/>
            </a:solidFill>
            <a:prstDash val="solid"/>
          </a:ln>
        </p:spPr>
        <p:txBody>
          <a:bodyPr/>
          <a:lstStyle/>
          <a:p>
            <a:endParaRPr lang="en-PH"/>
          </a:p>
        </p:txBody>
      </p:sp>
      <p:sp>
        <p:nvSpPr>
          <p:cNvPr id="9" name="Rectangle 8">
            <a:extLst>
              <a:ext uri="{FF2B5EF4-FFF2-40B4-BE49-F238E27FC236}">
                <a16:creationId xmlns:a16="http://schemas.microsoft.com/office/drawing/2014/main" id="{B65AD166-ED2D-4545-815E-135A92102942}"/>
              </a:ext>
            </a:extLst>
          </p:cNvPr>
          <p:cNvSpPr>
            <a:spLocks noGrp="1"/>
          </p:cNvSpPr>
          <p:nvPr/>
        </p:nvSpPr>
        <p:spPr>
          <a:xfrm>
            <a:off x="6076950" y="2724150"/>
            <a:ext cx="5124450" cy="428625"/>
          </a:xfrm>
          <a:prstGeom prst="rect">
            <a:avLst/>
          </a:prstGeom>
          <a:noFill/>
          <a:ln w="0">
            <a:noFill/>
            <a:prstDash val="solid"/>
          </a:ln>
        </p:spPr>
        <p:txBody>
          <a:bodyPr/>
          <a:lstStyle/>
          <a:p>
            <a:pPr algn="l">
              <a:defRPr sz="1425" b="0">
                <a:solidFill>
                  <a:srgbClr val="111111"/>
                </a:solidFill>
              </a:defRPr>
            </a:pPr>
            <a:r>
              <a:rPr sz="1425" b="0">
                <a:solidFill>
                  <a:srgbClr val="111111"/>
                </a:solidFill>
              </a:rPr>
              <a:t>Enable customers to register, book repairs, track requests, and pay.</a:t>
            </a:r>
          </a:p>
        </p:txBody>
      </p:sp>
      <p:sp>
        <p:nvSpPr>
          <p:cNvPr id="10" name="Rectangle 9">
            <a:extLst>
              <a:ext uri="{FF2B5EF4-FFF2-40B4-BE49-F238E27FC236}">
                <a16:creationId xmlns:a16="http://schemas.microsoft.com/office/drawing/2014/main" id="{EFED4027-D55D-4120-972F-0869C44C5377}"/>
              </a:ext>
            </a:extLst>
          </p:cNvPr>
          <p:cNvSpPr>
            <a:spLocks noGrp="1"/>
          </p:cNvSpPr>
          <p:nvPr/>
        </p:nvSpPr>
        <p:spPr>
          <a:xfrm>
            <a:off x="5867400" y="3257550"/>
            <a:ext cx="76200" cy="76200"/>
          </a:xfrm>
          <a:prstGeom prst="rect">
            <a:avLst/>
          </a:prstGeom>
          <a:solidFill>
            <a:srgbClr val="FF6B2C"/>
          </a:solidFill>
          <a:ln w="0">
            <a:solidFill>
              <a:srgbClr val="FF6B2C"/>
            </a:solidFill>
            <a:prstDash val="solid"/>
          </a:ln>
        </p:spPr>
        <p:txBody>
          <a:bodyPr/>
          <a:lstStyle/>
          <a:p>
            <a:endParaRPr lang="en-PH"/>
          </a:p>
        </p:txBody>
      </p:sp>
      <p:sp>
        <p:nvSpPr>
          <p:cNvPr id="11" name="Rectangle 10">
            <a:extLst>
              <a:ext uri="{FF2B5EF4-FFF2-40B4-BE49-F238E27FC236}">
                <a16:creationId xmlns:a16="http://schemas.microsoft.com/office/drawing/2014/main" id="{D32D38C7-608E-45BE-9812-3C53BDD7203A}"/>
              </a:ext>
            </a:extLst>
          </p:cNvPr>
          <p:cNvSpPr>
            <a:spLocks noGrp="1"/>
          </p:cNvSpPr>
          <p:nvPr/>
        </p:nvSpPr>
        <p:spPr>
          <a:xfrm>
            <a:off x="6076950" y="3171825"/>
            <a:ext cx="5124450" cy="428625"/>
          </a:xfrm>
          <a:prstGeom prst="rect">
            <a:avLst/>
          </a:prstGeom>
          <a:noFill/>
          <a:ln w="0">
            <a:noFill/>
            <a:prstDash val="solid"/>
          </a:ln>
        </p:spPr>
        <p:txBody>
          <a:bodyPr/>
          <a:lstStyle/>
          <a:p>
            <a:pPr algn="l">
              <a:defRPr sz="1425" b="0">
                <a:solidFill>
                  <a:srgbClr val="111111"/>
                </a:solidFill>
              </a:defRPr>
            </a:pPr>
            <a:r>
              <a:rPr sz="1425" b="0">
                <a:solidFill>
                  <a:srgbClr val="111111"/>
                </a:solidFill>
              </a:rPr>
              <a:t>Enable mechanics to accept jobs and update service progress.</a:t>
            </a:r>
          </a:p>
        </p:txBody>
      </p:sp>
      <p:sp>
        <p:nvSpPr>
          <p:cNvPr id="12" name="Rectangle 11">
            <a:extLst>
              <a:ext uri="{FF2B5EF4-FFF2-40B4-BE49-F238E27FC236}">
                <a16:creationId xmlns:a16="http://schemas.microsoft.com/office/drawing/2014/main" id="{B0D41BEE-1989-4420-8F7B-3C3FD4030840}"/>
              </a:ext>
            </a:extLst>
          </p:cNvPr>
          <p:cNvSpPr>
            <a:spLocks noGrp="1"/>
          </p:cNvSpPr>
          <p:nvPr/>
        </p:nvSpPr>
        <p:spPr>
          <a:xfrm>
            <a:off x="5867400" y="3705225"/>
            <a:ext cx="76200" cy="76200"/>
          </a:xfrm>
          <a:prstGeom prst="rect">
            <a:avLst/>
          </a:prstGeom>
          <a:solidFill>
            <a:srgbClr val="FF6B2C"/>
          </a:solidFill>
          <a:ln w="0">
            <a:solidFill>
              <a:srgbClr val="FF6B2C"/>
            </a:solidFill>
            <a:prstDash val="solid"/>
          </a:ln>
        </p:spPr>
        <p:txBody>
          <a:bodyPr/>
          <a:lstStyle/>
          <a:p>
            <a:endParaRPr lang="en-PH"/>
          </a:p>
        </p:txBody>
      </p:sp>
      <p:sp>
        <p:nvSpPr>
          <p:cNvPr id="13" name="Rectangle 12">
            <a:extLst>
              <a:ext uri="{FF2B5EF4-FFF2-40B4-BE49-F238E27FC236}">
                <a16:creationId xmlns:a16="http://schemas.microsoft.com/office/drawing/2014/main" id="{585680BC-8B0C-466C-886F-A11CD7805D09}"/>
              </a:ext>
            </a:extLst>
          </p:cNvPr>
          <p:cNvSpPr>
            <a:spLocks noGrp="1"/>
          </p:cNvSpPr>
          <p:nvPr/>
        </p:nvSpPr>
        <p:spPr>
          <a:xfrm>
            <a:off x="6076950" y="3619500"/>
            <a:ext cx="5124450" cy="428625"/>
          </a:xfrm>
          <a:prstGeom prst="rect">
            <a:avLst/>
          </a:prstGeom>
          <a:noFill/>
          <a:ln w="0">
            <a:noFill/>
            <a:prstDash val="solid"/>
          </a:ln>
        </p:spPr>
        <p:txBody>
          <a:bodyPr/>
          <a:lstStyle/>
          <a:p>
            <a:pPr algn="l">
              <a:defRPr sz="1425" b="0">
                <a:solidFill>
                  <a:srgbClr val="111111"/>
                </a:solidFill>
              </a:defRPr>
            </a:pPr>
            <a:r>
              <a:rPr sz="1425" b="0">
                <a:solidFill>
                  <a:srgbClr val="111111"/>
                </a:solidFill>
              </a:rPr>
              <a:t>Enable shops to manage services, products, bookings, and staff.</a:t>
            </a:r>
          </a:p>
        </p:txBody>
      </p:sp>
      <p:sp>
        <p:nvSpPr>
          <p:cNvPr id="14" name="Rectangle 13">
            <a:extLst>
              <a:ext uri="{FF2B5EF4-FFF2-40B4-BE49-F238E27FC236}">
                <a16:creationId xmlns:a16="http://schemas.microsoft.com/office/drawing/2014/main" id="{1F161C76-0151-400C-B94B-E966611ADF20}"/>
              </a:ext>
            </a:extLst>
          </p:cNvPr>
          <p:cNvSpPr>
            <a:spLocks noGrp="1"/>
          </p:cNvSpPr>
          <p:nvPr/>
        </p:nvSpPr>
        <p:spPr>
          <a:xfrm>
            <a:off x="5867400" y="4152900"/>
            <a:ext cx="76200" cy="76200"/>
          </a:xfrm>
          <a:prstGeom prst="rect">
            <a:avLst/>
          </a:prstGeom>
          <a:solidFill>
            <a:srgbClr val="FF6B2C"/>
          </a:solidFill>
          <a:ln w="0">
            <a:solidFill>
              <a:srgbClr val="FF6B2C"/>
            </a:solidFill>
            <a:prstDash val="solid"/>
          </a:ln>
        </p:spPr>
        <p:txBody>
          <a:bodyPr/>
          <a:lstStyle/>
          <a:p>
            <a:endParaRPr lang="en-PH"/>
          </a:p>
        </p:txBody>
      </p:sp>
      <p:sp>
        <p:nvSpPr>
          <p:cNvPr id="15" name="Rectangle 14">
            <a:extLst>
              <a:ext uri="{FF2B5EF4-FFF2-40B4-BE49-F238E27FC236}">
                <a16:creationId xmlns:a16="http://schemas.microsoft.com/office/drawing/2014/main" id="{A125B300-DC6E-4A8A-850E-E34A9D8C9004}"/>
              </a:ext>
            </a:extLst>
          </p:cNvPr>
          <p:cNvSpPr>
            <a:spLocks noGrp="1"/>
          </p:cNvSpPr>
          <p:nvPr/>
        </p:nvSpPr>
        <p:spPr>
          <a:xfrm>
            <a:off x="6076950" y="4067175"/>
            <a:ext cx="5124450" cy="428625"/>
          </a:xfrm>
          <a:prstGeom prst="rect">
            <a:avLst/>
          </a:prstGeom>
          <a:noFill/>
          <a:ln w="0">
            <a:noFill/>
            <a:prstDash val="solid"/>
          </a:ln>
        </p:spPr>
        <p:txBody>
          <a:bodyPr/>
          <a:lstStyle/>
          <a:p>
            <a:pPr algn="l">
              <a:defRPr sz="1425" b="0">
                <a:solidFill>
                  <a:srgbClr val="111111"/>
                </a:solidFill>
              </a:defRPr>
            </a:pPr>
            <a:r>
              <a:rPr sz="1425" b="0">
                <a:solidFill>
                  <a:srgbClr val="111111"/>
                </a:solidFill>
              </a:rPr>
              <a:t>Enable system admins to verify users and monitor operations.</a:t>
            </a:r>
          </a:p>
        </p:txBody>
      </p:sp>
      <p:sp>
        <p:nvSpPr>
          <p:cNvPr id="16" name="Rectangle 15">
            <a:extLst>
              <a:ext uri="{FF2B5EF4-FFF2-40B4-BE49-F238E27FC236}">
                <a16:creationId xmlns:a16="http://schemas.microsoft.com/office/drawing/2014/main" id="{A76AFFFE-3CCD-4100-8849-0630EEF66EA3}"/>
              </a:ext>
            </a:extLst>
          </p:cNvPr>
          <p:cNvSpPr>
            <a:spLocks noGrp="1"/>
          </p:cNvSpPr>
          <p:nvPr/>
        </p:nvSpPr>
        <p:spPr>
          <a:xfrm>
            <a:off x="5867400" y="4600575"/>
            <a:ext cx="76200" cy="76200"/>
          </a:xfrm>
          <a:prstGeom prst="rect">
            <a:avLst/>
          </a:prstGeom>
          <a:solidFill>
            <a:srgbClr val="FF6B2C"/>
          </a:solidFill>
          <a:ln w="0">
            <a:solidFill>
              <a:srgbClr val="FF6B2C"/>
            </a:solidFill>
            <a:prstDash val="solid"/>
          </a:ln>
        </p:spPr>
        <p:txBody>
          <a:bodyPr/>
          <a:lstStyle/>
          <a:p>
            <a:endParaRPr lang="en-PH"/>
          </a:p>
        </p:txBody>
      </p:sp>
      <p:sp>
        <p:nvSpPr>
          <p:cNvPr id="17" name="Rectangle 16">
            <a:extLst>
              <a:ext uri="{FF2B5EF4-FFF2-40B4-BE49-F238E27FC236}">
                <a16:creationId xmlns:a16="http://schemas.microsoft.com/office/drawing/2014/main" id="{BB4816AC-1015-49C7-A2C7-1A99815B8D91}"/>
              </a:ext>
            </a:extLst>
          </p:cNvPr>
          <p:cNvSpPr>
            <a:spLocks noGrp="1"/>
          </p:cNvSpPr>
          <p:nvPr/>
        </p:nvSpPr>
        <p:spPr>
          <a:xfrm>
            <a:off x="6076950" y="4514850"/>
            <a:ext cx="5124450" cy="428625"/>
          </a:xfrm>
          <a:prstGeom prst="rect">
            <a:avLst/>
          </a:prstGeom>
          <a:noFill/>
          <a:ln w="0">
            <a:noFill/>
            <a:prstDash val="solid"/>
          </a:ln>
        </p:spPr>
        <p:txBody>
          <a:bodyPr/>
          <a:lstStyle/>
          <a:p>
            <a:pPr algn="l">
              <a:defRPr sz="1425" b="0">
                <a:solidFill>
                  <a:srgbClr val="111111"/>
                </a:solidFill>
              </a:defRPr>
            </a:pPr>
            <a:r>
              <a:rPr sz="1425" b="0">
                <a:solidFill>
                  <a:srgbClr val="111111"/>
                </a:solidFill>
              </a:rPr>
              <a:t>Store platform data in a normalized SQL Server database.</a:t>
            </a:r>
          </a:p>
        </p:txBody>
      </p:sp>
      <p:sp>
        <p:nvSpPr>
          <p:cNvPr id="18" name="Rectangle 17">
            <a:extLst>
              <a:ext uri="{FF2B5EF4-FFF2-40B4-BE49-F238E27FC236}">
                <a16:creationId xmlns:a16="http://schemas.microsoft.com/office/drawing/2014/main" id="{425DDA2E-C4BF-4BE2-95FD-A92F7391FC48}"/>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19" name="Rectangle 18">
            <a:extLst>
              <a:ext uri="{FF2B5EF4-FFF2-40B4-BE49-F238E27FC236}">
                <a16:creationId xmlns:a16="http://schemas.microsoft.com/office/drawing/2014/main" id="{DF6A7DE5-03FA-407E-8086-3AD5B2394F6E}"/>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04</a:t>
            </a:r>
          </a:p>
        </p:txBody>
      </p:sp>
    </p:spTree>
    <p:extLst>
      <p:ext uri="{BB962C8B-B14F-4D97-AF65-F5344CB8AC3E}">
        <p14:creationId xmlns:p14="http://schemas.microsoft.com/office/powerpoint/2010/main" val="1849125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18DCF724-F545-4A66-8739-11627F59B4D5}"/>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7CAC7A14-8A39-4A5B-80D9-57B9863050E1}"/>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scope covers the full local prototype for a service marketplace.</a:t>
            </a:r>
          </a:p>
        </p:txBody>
      </p:sp>
      <p:sp>
        <p:nvSpPr>
          <p:cNvPr id="3" name="Rectangle 2">
            <a:extLst>
              <a:ext uri="{FF2B5EF4-FFF2-40B4-BE49-F238E27FC236}">
                <a16:creationId xmlns:a16="http://schemas.microsoft.com/office/drawing/2014/main" id="{F1083C36-BE15-459B-81C8-E2167D438EF9}"/>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833CBD22-2360-4077-80E6-529A1C661874}"/>
              </a:ext>
            </a:extLst>
          </p:cNvPr>
          <p:cNvSpPr>
            <a:spLocks noGrp="1"/>
          </p:cNvSpPr>
          <p:nvPr/>
        </p:nvSpPr>
        <p:spPr>
          <a:xfrm>
            <a:off x="704850" y="2133600"/>
            <a:ext cx="4667250" cy="990600"/>
          </a:xfrm>
          <a:prstGeom prst="rect">
            <a:avLst/>
          </a:prstGeom>
          <a:solidFill>
            <a:srgbClr val="FAFAFA"/>
          </a:solidFill>
          <a:ln w="9525">
            <a:solidFill>
              <a:srgbClr val="D8DBE0"/>
            </a:solidFill>
            <a:prstDash val="solid"/>
          </a:ln>
        </p:spPr>
        <p:txBody>
          <a:bodyPr/>
          <a:lstStyle/>
          <a:p>
            <a:endParaRPr lang="en-PH"/>
          </a:p>
        </p:txBody>
      </p:sp>
      <p:sp>
        <p:nvSpPr>
          <p:cNvPr id="5" name="Rectangle 4">
            <a:extLst>
              <a:ext uri="{FF2B5EF4-FFF2-40B4-BE49-F238E27FC236}">
                <a16:creationId xmlns:a16="http://schemas.microsoft.com/office/drawing/2014/main" id="{78AEBAC3-FB3A-4091-AED2-2030F6656B97}"/>
              </a:ext>
            </a:extLst>
          </p:cNvPr>
          <p:cNvSpPr>
            <a:spLocks noGrp="1"/>
          </p:cNvSpPr>
          <p:nvPr/>
        </p:nvSpPr>
        <p:spPr>
          <a:xfrm>
            <a:off x="933450" y="2305050"/>
            <a:ext cx="4000500" cy="266700"/>
          </a:xfrm>
          <a:prstGeom prst="rect">
            <a:avLst/>
          </a:prstGeom>
          <a:noFill/>
          <a:ln w="0">
            <a:noFill/>
            <a:prstDash val="solid"/>
          </a:ln>
        </p:spPr>
        <p:txBody>
          <a:bodyPr/>
          <a:lstStyle/>
          <a:p>
            <a:pPr algn="l">
              <a:defRPr sz="1650" b="1">
                <a:solidFill>
                  <a:srgbClr val="111111"/>
                </a:solidFill>
              </a:defRPr>
            </a:pPr>
            <a:r>
              <a:rPr sz="1650" b="1">
                <a:solidFill>
                  <a:srgbClr val="111111"/>
                </a:solidFill>
              </a:rPr>
              <a:t>Mobile users</a:t>
            </a:r>
          </a:p>
        </p:txBody>
      </p:sp>
      <p:sp>
        <p:nvSpPr>
          <p:cNvPr id="6" name="Rectangle 5">
            <a:extLst>
              <a:ext uri="{FF2B5EF4-FFF2-40B4-BE49-F238E27FC236}">
                <a16:creationId xmlns:a16="http://schemas.microsoft.com/office/drawing/2014/main" id="{98914018-1DC5-4F90-830E-11E6D32F1B02}"/>
              </a:ext>
            </a:extLst>
          </p:cNvPr>
          <p:cNvSpPr>
            <a:spLocks noGrp="1"/>
          </p:cNvSpPr>
          <p:nvPr/>
        </p:nvSpPr>
        <p:spPr>
          <a:xfrm>
            <a:off x="933450" y="2628900"/>
            <a:ext cx="4095750" cy="361950"/>
          </a:xfrm>
          <a:prstGeom prst="rect">
            <a:avLst/>
          </a:prstGeom>
          <a:noFill/>
          <a:ln w="0">
            <a:noFill/>
            <a:prstDash val="solid"/>
          </a:ln>
        </p:spPr>
        <p:txBody>
          <a:bodyPr/>
          <a:lstStyle/>
          <a:p>
            <a:pPr algn="l">
              <a:defRPr sz="1275" b="0">
                <a:solidFill>
                  <a:srgbClr val="5F6268"/>
                </a:solidFill>
              </a:defRPr>
            </a:pPr>
            <a:r>
              <a:rPr sz="1275" b="0">
                <a:solidFill>
                  <a:srgbClr val="5F6268"/>
                </a:solidFill>
              </a:rPr>
              <a:t>Customer, mechanic, system-admin mobile shells and role routing.</a:t>
            </a:r>
          </a:p>
        </p:txBody>
      </p:sp>
      <p:sp>
        <p:nvSpPr>
          <p:cNvPr id="7" name="Rectangle 6">
            <a:extLst>
              <a:ext uri="{FF2B5EF4-FFF2-40B4-BE49-F238E27FC236}">
                <a16:creationId xmlns:a16="http://schemas.microsoft.com/office/drawing/2014/main" id="{B505E070-3EAB-4335-B5C2-2FDAE87837B0}"/>
              </a:ext>
            </a:extLst>
          </p:cNvPr>
          <p:cNvSpPr>
            <a:spLocks noGrp="1"/>
          </p:cNvSpPr>
          <p:nvPr/>
        </p:nvSpPr>
        <p:spPr>
          <a:xfrm>
            <a:off x="6210300" y="2133600"/>
            <a:ext cx="4667250" cy="990600"/>
          </a:xfrm>
          <a:prstGeom prst="rect">
            <a:avLst/>
          </a:prstGeom>
          <a:solidFill>
            <a:srgbClr val="FAFAFA"/>
          </a:solidFill>
          <a:ln w="9525">
            <a:solidFill>
              <a:srgbClr val="D8DBE0"/>
            </a:solidFill>
            <a:prstDash val="solid"/>
          </a:ln>
        </p:spPr>
        <p:txBody>
          <a:bodyPr/>
          <a:lstStyle/>
          <a:p>
            <a:endParaRPr lang="en-PH"/>
          </a:p>
        </p:txBody>
      </p:sp>
      <p:sp>
        <p:nvSpPr>
          <p:cNvPr id="8" name="Rectangle 7">
            <a:extLst>
              <a:ext uri="{FF2B5EF4-FFF2-40B4-BE49-F238E27FC236}">
                <a16:creationId xmlns:a16="http://schemas.microsoft.com/office/drawing/2014/main" id="{CB3B9C03-6C9E-47CD-958E-BD4570260903}"/>
              </a:ext>
            </a:extLst>
          </p:cNvPr>
          <p:cNvSpPr>
            <a:spLocks noGrp="1"/>
          </p:cNvSpPr>
          <p:nvPr/>
        </p:nvSpPr>
        <p:spPr>
          <a:xfrm>
            <a:off x="6438900" y="2305050"/>
            <a:ext cx="4000500" cy="266700"/>
          </a:xfrm>
          <a:prstGeom prst="rect">
            <a:avLst/>
          </a:prstGeom>
          <a:noFill/>
          <a:ln w="0">
            <a:noFill/>
            <a:prstDash val="solid"/>
          </a:ln>
        </p:spPr>
        <p:txBody>
          <a:bodyPr/>
          <a:lstStyle/>
          <a:p>
            <a:pPr algn="l">
              <a:defRPr sz="1650" b="1">
                <a:solidFill>
                  <a:srgbClr val="111111"/>
                </a:solidFill>
              </a:defRPr>
            </a:pPr>
            <a:r>
              <a:rPr sz="1650" b="1">
                <a:solidFill>
                  <a:srgbClr val="111111"/>
                </a:solidFill>
              </a:rPr>
              <a:t>Shop operations</a:t>
            </a:r>
          </a:p>
        </p:txBody>
      </p:sp>
      <p:sp>
        <p:nvSpPr>
          <p:cNvPr id="9" name="Rectangle 8">
            <a:extLst>
              <a:ext uri="{FF2B5EF4-FFF2-40B4-BE49-F238E27FC236}">
                <a16:creationId xmlns:a16="http://schemas.microsoft.com/office/drawing/2014/main" id="{BFDD25C8-AE31-4D08-A7FD-3DFEE045C1DB}"/>
              </a:ext>
            </a:extLst>
          </p:cNvPr>
          <p:cNvSpPr>
            <a:spLocks noGrp="1"/>
          </p:cNvSpPr>
          <p:nvPr/>
        </p:nvSpPr>
        <p:spPr>
          <a:xfrm>
            <a:off x="6438900" y="2628900"/>
            <a:ext cx="4095750" cy="361950"/>
          </a:xfrm>
          <a:prstGeom prst="rect">
            <a:avLst/>
          </a:prstGeom>
          <a:noFill/>
          <a:ln w="0">
            <a:noFill/>
            <a:prstDash val="solid"/>
          </a:ln>
        </p:spPr>
        <p:txBody>
          <a:bodyPr/>
          <a:lstStyle/>
          <a:p>
            <a:pPr algn="l">
              <a:defRPr sz="1275" b="0">
                <a:solidFill>
                  <a:srgbClr val="5F6268"/>
                </a:solidFill>
              </a:defRPr>
            </a:pPr>
            <a:r>
              <a:rPr sz="1275" b="0">
                <a:solidFill>
                  <a:srgbClr val="5F6268"/>
                </a:solidFill>
              </a:rPr>
              <a:t>Separate MAUI shop-admin app for onboarding and management.</a:t>
            </a:r>
          </a:p>
        </p:txBody>
      </p:sp>
      <p:sp>
        <p:nvSpPr>
          <p:cNvPr id="10" name="Rectangle 9">
            <a:extLst>
              <a:ext uri="{FF2B5EF4-FFF2-40B4-BE49-F238E27FC236}">
                <a16:creationId xmlns:a16="http://schemas.microsoft.com/office/drawing/2014/main" id="{10E6993A-FD67-4074-834E-8D267AF8A9E4}"/>
              </a:ext>
            </a:extLst>
          </p:cNvPr>
          <p:cNvSpPr>
            <a:spLocks noGrp="1"/>
          </p:cNvSpPr>
          <p:nvPr/>
        </p:nvSpPr>
        <p:spPr>
          <a:xfrm>
            <a:off x="704850" y="3409950"/>
            <a:ext cx="4667250" cy="990600"/>
          </a:xfrm>
          <a:prstGeom prst="rect">
            <a:avLst/>
          </a:prstGeom>
          <a:solidFill>
            <a:srgbClr val="FAFAFA"/>
          </a:solidFill>
          <a:ln w="9525">
            <a:solidFill>
              <a:srgbClr val="D8DBE0"/>
            </a:solidFill>
            <a:prstDash val="solid"/>
          </a:ln>
        </p:spPr>
        <p:txBody>
          <a:bodyPr/>
          <a:lstStyle/>
          <a:p>
            <a:endParaRPr lang="en-PH"/>
          </a:p>
        </p:txBody>
      </p:sp>
      <p:sp>
        <p:nvSpPr>
          <p:cNvPr id="11" name="Rectangle 10">
            <a:extLst>
              <a:ext uri="{FF2B5EF4-FFF2-40B4-BE49-F238E27FC236}">
                <a16:creationId xmlns:a16="http://schemas.microsoft.com/office/drawing/2014/main" id="{9EAC73EC-1523-41E0-B841-EAB7D8719C3F}"/>
              </a:ext>
            </a:extLst>
          </p:cNvPr>
          <p:cNvSpPr>
            <a:spLocks noGrp="1"/>
          </p:cNvSpPr>
          <p:nvPr/>
        </p:nvSpPr>
        <p:spPr>
          <a:xfrm>
            <a:off x="933450" y="3581400"/>
            <a:ext cx="4000500" cy="266700"/>
          </a:xfrm>
          <a:prstGeom prst="rect">
            <a:avLst/>
          </a:prstGeom>
          <a:noFill/>
          <a:ln w="0">
            <a:noFill/>
            <a:prstDash val="solid"/>
          </a:ln>
        </p:spPr>
        <p:txBody>
          <a:bodyPr/>
          <a:lstStyle/>
          <a:p>
            <a:pPr algn="l">
              <a:defRPr sz="1650" b="1">
                <a:solidFill>
                  <a:srgbClr val="111111"/>
                </a:solidFill>
              </a:defRPr>
            </a:pPr>
            <a:r>
              <a:rPr sz="1650" b="1">
                <a:solidFill>
                  <a:srgbClr val="111111"/>
                </a:solidFill>
              </a:rPr>
              <a:t>Backend services</a:t>
            </a:r>
          </a:p>
        </p:txBody>
      </p:sp>
      <p:sp>
        <p:nvSpPr>
          <p:cNvPr id="12" name="Rectangle 11">
            <a:extLst>
              <a:ext uri="{FF2B5EF4-FFF2-40B4-BE49-F238E27FC236}">
                <a16:creationId xmlns:a16="http://schemas.microsoft.com/office/drawing/2014/main" id="{AAC1F3F6-5ADF-447B-92AC-F80059AEAE9B}"/>
              </a:ext>
            </a:extLst>
          </p:cNvPr>
          <p:cNvSpPr>
            <a:spLocks noGrp="1"/>
          </p:cNvSpPr>
          <p:nvPr/>
        </p:nvSpPr>
        <p:spPr>
          <a:xfrm>
            <a:off x="933450" y="3905250"/>
            <a:ext cx="4095750" cy="361950"/>
          </a:xfrm>
          <a:prstGeom prst="rect">
            <a:avLst/>
          </a:prstGeom>
          <a:noFill/>
          <a:ln w="0">
            <a:noFill/>
            <a:prstDash val="solid"/>
          </a:ln>
        </p:spPr>
        <p:txBody>
          <a:bodyPr/>
          <a:lstStyle/>
          <a:p>
            <a:pPr algn="l">
              <a:defRPr sz="1275" b="0">
                <a:solidFill>
                  <a:srgbClr val="5F6268"/>
                </a:solidFill>
              </a:defRPr>
            </a:pPr>
            <a:r>
              <a:rPr sz="1275" b="0">
                <a:solidFill>
                  <a:srgbClr val="5F6268"/>
                </a:solidFill>
              </a:rPr>
              <a:t>ASP.NET Core API for auth, service requests, payments, chat, emergency, reports, and files.</a:t>
            </a:r>
          </a:p>
        </p:txBody>
      </p:sp>
      <p:sp>
        <p:nvSpPr>
          <p:cNvPr id="13" name="Rectangle 12">
            <a:extLst>
              <a:ext uri="{FF2B5EF4-FFF2-40B4-BE49-F238E27FC236}">
                <a16:creationId xmlns:a16="http://schemas.microsoft.com/office/drawing/2014/main" id="{687A68A2-B0A9-4B0C-8DA5-AD1816D9AEB3}"/>
              </a:ext>
            </a:extLst>
          </p:cNvPr>
          <p:cNvSpPr>
            <a:spLocks noGrp="1"/>
          </p:cNvSpPr>
          <p:nvPr/>
        </p:nvSpPr>
        <p:spPr>
          <a:xfrm>
            <a:off x="6210300" y="3409950"/>
            <a:ext cx="4667250" cy="990600"/>
          </a:xfrm>
          <a:prstGeom prst="rect">
            <a:avLst/>
          </a:prstGeom>
          <a:solidFill>
            <a:srgbClr val="FAFAFA"/>
          </a:solidFill>
          <a:ln w="9525">
            <a:solidFill>
              <a:srgbClr val="D8DBE0"/>
            </a:solidFill>
            <a:prstDash val="solid"/>
          </a:ln>
        </p:spPr>
        <p:txBody>
          <a:bodyPr/>
          <a:lstStyle/>
          <a:p>
            <a:endParaRPr lang="en-PH"/>
          </a:p>
        </p:txBody>
      </p:sp>
      <p:sp>
        <p:nvSpPr>
          <p:cNvPr id="14" name="Rectangle 13">
            <a:extLst>
              <a:ext uri="{FF2B5EF4-FFF2-40B4-BE49-F238E27FC236}">
                <a16:creationId xmlns:a16="http://schemas.microsoft.com/office/drawing/2014/main" id="{9C0D2557-699E-47DB-B18D-3732EA53AE14}"/>
              </a:ext>
            </a:extLst>
          </p:cNvPr>
          <p:cNvSpPr>
            <a:spLocks noGrp="1"/>
          </p:cNvSpPr>
          <p:nvPr/>
        </p:nvSpPr>
        <p:spPr>
          <a:xfrm>
            <a:off x="6438900" y="3581400"/>
            <a:ext cx="4000500" cy="266700"/>
          </a:xfrm>
          <a:prstGeom prst="rect">
            <a:avLst/>
          </a:prstGeom>
          <a:noFill/>
          <a:ln w="0">
            <a:noFill/>
            <a:prstDash val="solid"/>
          </a:ln>
        </p:spPr>
        <p:txBody>
          <a:bodyPr/>
          <a:lstStyle/>
          <a:p>
            <a:pPr algn="l">
              <a:defRPr sz="1650" b="1">
                <a:solidFill>
                  <a:srgbClr val="111111"/>
                </a:solidFill>
              </a:defRPr>
            </a:pPr>
            <a:r>
              <a:rPr sz="1650" b="1">
                <a:solidFill>
                  <a:srgbClr val="111111"/>
                </a:solidFill>
              </a:rPr>
              <a:t>Data layer</a:t>
            </a:r>
          </a:p>
        </p:txBody>
      </p:sp>
      <p:sp>
        <p:nvSpPr>
          <p:cNvPr id="15" name="Rectangle 14">
            <a:extLst>
              <a:ext uri="{FF2B5EF4-FFF2-40B4-BE49-F238E27FC236}">
                <a16:creationId xmlns:a16="http://schemas.microsoft.com/office/drawing/2014/main" id="{5E2D920F-41C8-48FE-9999-CB5DD842B47A}"/>
              </a:ext>
            </a:extLst>
          </p:cNvPr>
          <p:cNvSpPr>
            <a:spLocks noGrp="1"/>
          </p:cNvSpPr>
          <p:nvPr/>
        </p:nvSpPr>
        <p:spPr>
          <a:xfrm>
            <a:off x="6438900" y="3905250"/>
            <a:ext cx="4095750" cy="361950"/>
          </a:xfrm>
          <a:prstGeom prst="rect">
            <a:avLst/>
          </a:prstGeom>
          <a:noFill/>
          <a:ln w="0">
            <a:noFill/>
            <a:prstDash val="solid"/>
          </a:ln>
        </p:spPr>
        <p:txBody>
          <a:bodyPr/>
          <a:lstStyle/>
          <a:p>
            <a:pPr algn="l">
              <a:defRPr sz="1275" b="0">
                <a:solidFill>
                  <a:srgbClr val="5F6268"/>
                </a:solidFill>
              </a:defRPr>
            </a:pPr>
            <a:r>
              <a:rPr sz="1275" b="0">
                <a:solidFill>
                  <a:srgbClr val="5F6268"/>
                </a:solidFill>
              </a:rPr>
              <a:t>SQL Server schema, EF Core migrations, seed data, and trigger scripts.</a:t>
            </a:r>
          </a:p>
        </p:txBody>
      </p:sp>
      <p:sp>
        <p:nvSpPr>
          <p:cNvPr id="16" name="Rectangle 15">
            <a:extLst>
              <a:ext uri="{FF2B5EF4-FFF2-40B4-BE49-F238E27FC236}">
                <a16:creationId xmlns:a16="http://schemas.microsoft.com/office/drawing/2014/main" id="{B1179FA4-9A6E-4AB3-AE12-981F5D42C74A}"/>
              </a:ext>
            </a:extLst>
          </p:cNvPr>
          <p:cNvSpPr>
            <a:spLocks noGrp="1"/>
          </p:cNvSpPr>
          <p:nvPr/>
        </p:nvSpPr>
        <p:spPr>
          <a:xfrm>
            <a:off x="704850" y="4686300"/>
            <a:ext cx="4667250" cy="990600"/>
          </a:xfrm>
          <a:prstGeom prst="rect">
            <a:avLst/>
          </a:prstGeom>
          <a:solidFill>
            <a:srgbClr val="FFF1EA"/>
          </a:solidFill>
          <a:ln w="9525">
            <a:solidFill>
              <a:srgbClr val="D8DBE0"/>
            </a:solidFill>
            <a:prstDash val="solid"/>
          </a:ln>
        </p:spPr>
        <p:txBody>
          <a:bodyPr/>
          <a:lstStyle/>
          <a:p>
            <a:endParaRPr lang="en-PH"/>
          </a:p>
        </p:txBody>
      </p:sp>
      <p:sp>
        <p:nvSpPr>
          <p:cNvPr id="17" name="Rectangle 16">
            <a:extLst>
              <a:ext uri="{FF2B5EF4-FFF2-40B4-BE49-F238E27FC236}">
                <a16:creationId xmlns:a16="http://schemas.microsoft.com/office/drawing/2014/main" id="{77095387-8A3B-4329-81F3-0C5B2FA4CF6B}"/>
              </a:ext>
            </a:extLst>
          </p:cNvPr>
          <p:cNvSpPr>
            <a:spLocks noGrp="1"/>
          </p:cNvSpPr>
          <p:nvPr/>
        </p:nvSpPr>
        <p:spPr>
          <a:xfrm>
            <a:off x="933450" y="4857750"/>
            <a:ext cx="4000500" cy="266700"/>
          </a:xfrm>
          <a:prstGeom prst="rect">
            <a:avLst/>
          </a:prstGeom>
          <a:noFill/>
          <a:ln w="0">
            <a:noFill/>
            <a:prstDash val="solid"/>
          </a:ln>
        </p:spPr>
        <p:txBody>
          <a:bodyPr/>
          <a:lstStyle/>
          <a:p>
            <a:pPr algn="l">
              <a:defRPr sz="1650" b="1">
                <a:solidFill>
                  <a:srgbClr val="111111"/>
                </a:solidFill>
              </a:defRPr>
            </a:pPr>
            <a:r>
              <a:rPr sz="1650" b="1">
                <a:solidFill>
                  <a:srgbClr val="111111"/>
                </a:solidFill>
              </a:rPr>
              <a:t>Web administration</a:t>
            </a:r>
          </a:p>
        </p:txBody>
      </p:sp>
      <p:sp>
        <p:nvSpPr>
          <p:cNvPr id="18" name="Rectangle 17">
            <a:extLst>
              <a:ext uri="{FF2B5EF4-FFF2-40B4-BE49-F238E27FC236}">
                <a16:creationId xmlns:a16="http://schemas.microsoft.com/office/drawing/2014/main" id="{5FBD5C0D-CFBB-4D8F-B33B-2291F0FFC28F}"/>
              </a:ext>
            </a:extLst>
          </p:cNvPr>
          <p:cNvSpPr>
            <a:spLocks noGrp="1"/>
          </p:cNvSpPr>
          <p:nvPr/>
        </p:nvSpPr>
        <p:spPr>
          <a:xfrm>
            <a:off x="933450" y="5181600"/>
            <a:ext cx="4095750" cy="361950"/>
          </a:xfrm>
          <a:prstGeom prst="rect">
            <a:avLst/>
          </a:prstGeom>
          <a:noFill/>
          <a:ln w="0">
            <a:noFill/>
            <a:prstDash val="solid"/>
          </a:ln>
        </p:spPr>
        <p:txBody>
          <a:bodyPr/>
          <a:lstStyle/>
          <a:p>
            <a:pPr algn="l">
              <a:defRPr sz="1275" b="0">
                <a:solidFill>
                  <a:srgbClr val="5F6268"/>
                </a:solidFill>
              </a:defRPr>
            </a:pPr>
            <a:r>
              <a:rPr sz="1275" b="0">
                <a:solidFill>
                  <a:srgbClr val="5F6268"/>
                </a:solidFill>
              </a:rPr>
              <a:t>Blazor dashboard for approvals, users, shops, mechanics, payments, requests, and emergencies.</a:t>
            </a:r>
          </a:p>
        </p:txBody>
      </p:sp>
      <p:sp>
        <p:nvSpPr>
          <p:cNvPr id="19" name="Rectangle 18">
            <a:extLst>
              <a:ext uri="{FF2B5EF4-FFF2-40B4-BE49-F238E27FC236}">
                <a16:creationId xmlns:a16="http://schemas.microsoft.com/office/drawing/2014/main" id="{A031D1B5-3813-4F88-B3F7-A9EF5F69CE23}"/>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20" name="Rectangle 19">
            <a:extLst>
              <a:ext uri="{FF2B5EF4-FFF2-40B4-BE49-F238E27FC236}">
                <a16:creationId xmlns:a16="http://schemas.microsoft.com/office/drawing/2014/main" id="{7E7FF7A5-5C98-4D25-95B1-BDB6263C8CDF}"/>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05</a:t>
            </a:r>
          </a:p>
        </p:txBody>
      </p:sp>
    </p:spTree>
    <p:extLst>
      <p:ext uri="{BB962C8B-B14F-4D97-AF65-F5344CB8AC3E}">
        <p14:creationId xmlns:p14="http://schemas.microsoft.com/office/powerpoint/2010/main" val="2756778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A816432-7A24-4A7E-9508-7B7C48D32944}"/>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12E2AC36-A839-4A81-8AED-2F010521307F}"/>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architecture separates user apps, API logic, shared contracts, and persistence.</a:t>
            </a:r>
          </a:p>
        </p:txBody>
      </p:sp>
      <p:sp>
        <p:nvSpPr>
          <p:cNvPr id="3" name="Rectangle 2">
            <a:extLst>
              <a:ext uri="{FF2B5EF4-FFF2-40B4-BE49-F238E27FC236}">
                <a16:creationId xmlns:a16="http://schemas.microsoft.com/office/drawing/2014/main" id="{E7547439-E813-425E-B11C-DBF11A8E7877}"/>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628FD622-A5F1-4C69-96AE-376003A8ABDA}"/>
              </a:ext>
            </a:extLst>
          </p:cNvPr>
          <p:cNvSpPr>
            <a:spLocks noGrp="1"/>
          </p:cNvSpPr>
          <p:nvPr/>
        </p:nvSpPr>
        <p:spPr>
          <a:xfrm>
            <a:off x="685800" y="2324100"/>
            <a:ext cx="2914650" cy="990600"/>
          </a:xfrm>
          <a:prstGeom prst="rect">
            <a:avLst/>
          </a:prstGeom>
          <a:solidFill>
            <a:srgbClr val="FAFAFA"/>
          </a:solidFill>
          <a:ln w="9525">
            <a:solidFill>
              <a:srgbClr val="D8DBE0"/>
            </a:solidFill>
            <a:prstDash val="solid"/>
          </a:ln>
        </p:spPr>
        <p:txBody>
          <a:bodyPr/>
          <a:lstStyle/>
          <a:p>
            <a:endParaRPr lang="en-PH"/>
          </a:p>
        </p:txBody>
      </p:sp>
      <p:sp>
        <p:nvSpPr>
          <p:cNvPr id="5" name="Rectangle 4">
            <a:extLst>
              <a:ext uri="{FF2B5EF4-FFF2-40B4-BE49-F238E27FC236}">
                <a16:creationId xmlns:a16="http://schemas.microsoft.com/office/drawing/2014/main" id="{0FF3718C-EF65-415F-A967-3865D3D37AAC}"/>
              </a:ext>
            </a:extLst>
          </p:cNvPr>
          <p:cNvSpPr>
            <a:spLocks noGrp="1"/>
          </p:cNvSpPr>
          <p:nvPr/>
        </p:nvSpPr>
        <p:spPr>
          <a:xfrm>
            <a:off x="857250" y="2495550"/>
            <a:ext cx="2571750" cy="266700"/>
          </a:xfrm>
          <a:prstGeom prst="rect">
            <a:avLst/>
          </a:prstGeom>
          <a:noFill/>
          <a:ln w="0">
            <a:noFill/>
            <a:prstDash val="solid"/>
          </a:ln>
        </p:spPr>
        <p:txBody>
          <a:bodyPr/>
          <a:lstStyle/>
          <a:p>
            <a:pPr algn="l">
              <a:defRPr sz="1575" b="1">
                <a:solidFill>
                  <a:srgbClr val="111111"/>
                </a:solidFill>
              </a:defRPr>
            </a:pPr>
            <a:r>
              <a:rPr sz="1575" b="1">
                <a:solidFill>
                  <a:srgbClr val="111111"/>
                </a:solidFill>
              </a:rPr>
              <a:t>BikeMate.Mobile</a:t>
            </a:r>
          </a:p>
        </p:txBody>
      </p:sp>
      <p:sp>
        <p:nvSpPr>
          <p:cNvPr id="6" name="Rectangle 5">
            <a:extLst>
              <a:ext uri="{FF2B5EF4-FFF2-40B4-BE49-F238E27FC236}">
                <a16:creationId xmlns:a16="http://schemas.microsoft.com/office/drawing/2014/main" id="{C506DB8D-9551-4AD1-8A19-760EAD79346E}"/>
              </a:ext>
            </a:extLst>
          </p:cNvPr>
          <p:cNvSpPr>
            <a:spLocks noGrp="1"/>
          </p:cNvSpPr>
          <p:nvPr/>
        </p:nvSpPr>
        <p:spPr>
          <a:xfrm>
            <a:off x="857250" y="2800350"/>
            <a:ext cx="2571750" cy="361950"/>
          </a:xfrm>
          <a:prstGeom prst="rect">
            <a:avLst/>
          </a:prstGeom>
          <a:noFill/>
          <a:ln w="0">
            <a:noFill/>
            <a:prstDash val="solid"/>
          </a:ln>
        </p:spPr>
        <p:txBody>
          <a:bodyPr/>
          <a:lstStyle/>
          <a:p>
            <a:pPr algn="l">
              <a:defRPr sz="1125" b="0">
                <a:solidFill>
                  <a:srgbClr val="5F6268"/>
                </a:solidFill>
              </a:defRPr>
            </a:pPr>
            <a:r>
              <a:rPr sz="1125" b="0">
                <a:solidFill>
                  <a:srgbClr val="5F6268"/>
                </a:solidFill>
              </a:rPr>
              <a:t>Customer, mechanic, and system-admin mobile screens</a:t>
            </a:r>
          </a:p>
        </p:txBody>
      </p:sp>
      <p:sp>
        <p:nvSpPr>
          <p:cNvPr id="7" name="Rectangle 6">
            <a:extLst>
              <a:ext uri="{FF2B5EF4-FFF2-40B4-BE49-F238E27FC236}">
                <a16:creationId xmlns:a16="http://schemas.microsoft.com/office/drawing/2014/main" id="{F128330D-0862-43FE-9863-ACB46C3F3208}"/>
              </a:ext>
            </a:extLst>
          </p:cNvPr>
          <p:cNvSpPr>
            <a:spLocks noGrp="1"/>
          </p:cNvSpPr>
          <p:nvPr/>
        </p:nvSpPr>
        <p:spPr>
          <a:xfrm>
            <a:off x="685800" y="3771900"/>
            <a:ext cx="2914650" cy="990600"/>
          </a:xfrm>
          <a:prstGeom prst="rect">
            <a:avLst/>
          </a:prstGeom>
          <a:solidFill>
            <a:srgbClr val="FAFAFA"/>
          </a:solidFill>
          <a:ln w="9525">
            <a:solidFill>
              <a:srgbClr val="D8DBE0"/>
            </a:solidFill>
            <a:prstDash val="solid"/>
          </a:ln>
        </p:spPr>
        <p:txBody>
          <a:bodyPr/>
          <a:lstStyle/>
          <a:p>
            <a:endParaRPr lang="en-PH"/>
          </a:p>
        </p:txBody>
      </p:sp>
      <p:sp>
        <p:nvSpPr>
          <p:cNvPr id="8" name="Rectangle 7">
            <a:extLst>
              <a:ext uri="{FF2B5EF4-FFF2-40B4-BE49-F238E27FC236}">
                <a16:creationId xmlns:a16="http://schemas.microsoft.com/office/drawing/2014/main" id="{2A7AA9B3-4451-4B34-B69B-FE2C873BBD14}"/>
              </a:ext>
            </a:extLst>
          </p:cNvPr>
          <p:cNvSpPr>
            <a:spLocks noGrp="1"/>
          </p:cNvSpPr>
          <p:nvPr/>
        </p:nvSpPr>
        <p:spPr>
          <a:xfrm>
            <a:off x="857250" y="3943350"/>
            <a:ext cx="2571750" cy="266700"/>
          </a:xfrm>
          <a:prstGeom prst="rect">
            <a:avLst/>
          </a:prstGeom>
          <a:noFill/>
          <a:ln w="0">
            <a:noFill/>
            <a:prstDash val="solid"/>
          </a:ln>
        </p:spPr>
        <p:txBody>
          <a:bodyPr/>
          <a:lstStyle/>
          <a:p>
            <a:pPr algn="l">
              <a:defRPr sz="1575" b="1">
                <a:solidFill>
                  <a:srgbClr val="111111"/>
                </a:solidFill>
              </a:defRPr>
            </a:pPr>
            <a:r>
              <a:rPr sz="1575" b="1">
                <a:solidFill>
                  <a:srgbClr val="111111"/>
                </a:solidFill>
              </a:rPr>
              <a:t>BIKEMATES_ADMIN</a:t>
            </a:r>
          </a:p>
        </p:txBody>
      </p:sp>
      <p:sp>
        <p:nvSpPr>
          <p:cNvPr id="9" name="Rectangle 8">
            <a:extLst>
              <a:ext uri="{FF2B5EF4-FFF2-40B4-BE49-F238E27FC236}">
                <a16:creationId xmlns:a16="http://schemas.microsoft.com/office/drawing/2014/main" id="{D7613513-B826-4509-B99A-A2E293D5A71E}"/>
              </a:ext>
            </a:extLst>
          </p:cNvPr>
          <p:cNvSpPr>
            <a:spLocks noGrp="1"/>
          </p:cNvSpPr>
          <p:nvPr/>
        </p:nvSpPr>
        <p:spPr>
          <a:xfrm>
            <a:off x="857250" y="4248150"/>
            <a:ext cx="2571750" cy="361950"/>
          </a:xfrm>
          <a:prstGeom prst="rect">
            <a:avLst/>
          </a:prstGeom>
          <a:noFill/>
          <a:ln w="0">
            <a:noFill/>
            <a:prstDash val="solid"/>
          </a:ln>
        </p:spPr>
        <p:txBody>
          <a:bodyPr/>
          <a:lstStyle/>
          <a:p>
            <a:pPr algn="l">
              <a:defRPr sz="1125" b="0">
                <a:solidFill>
                  <a:srgbClr val="5F6268"/>
                </a:solidFill>
              </a:defRPr>
            </a:pPr>
            <a:r>
              <a:rPr sz="1125" b="0">
                <a:solidFill>
                  <a:srgbClr val="5F6268"/>
                </a:solidFill>
              </a:rPr>
              <a:t>Shop owner onboarding and shop management app</a:t>
            </a:r>
          </a:p>
        </p:txBody>
      </p:sp>
      <p:sp>
        <p:nvSpPr>
          <p:cNvPr id="10" name="Rectangle 9">
            <a:extLst>
              <a:ext uri="{FF2B5EF4-FFF2-40B4-BE49-F238E27FC236}">
                <a16:creationId xmlns:a16="http://schemas.microsoft.com/office/drawing/2014/main" id="{F2BA68B4-3B2C-4B84-893F-D7B82BD01658}"/>
              </a:ext>
            </a:extLst>
          </p:cNvPr>
          <p:cNvSpPr>
            <a:spLocks noGrp="1"/>
          </p:cNvSpPr>
          <p:nvPr/>
        </p:nvSpPr>
        <p:spPr>
          <a:xfrm>
            <a:off x="4572000" y="3048000"/>
            <a:ext cx="2914650" cy="990600"/>
          </a:xfrm>
          <a:prstGeom prst="rect">
            <a:avLst/>
          </a:prstGeom>
          <a:solidFill>
            <a:srgbClr val="FFF1EA"/>
          </a:solidFill>
          <a:ln w="9525">
            <a:solidFill>
              <a:srgbClr val="D8DBE0"/>
            </a:solidFill>
            <a:prstDash val="solid"/>
          </a:ln>
        </p:spPr>
        <p:txBody>
          <a:bodyPr/>
          <a:lstStyle/>
          <a:p>
            <a:endParaRPr lang="en-PH"/>
          </a:p>
        </p:txBody>
      </p:sp>
      <p:sp>
        <p:nvSpPr>
          <p:cNvPr id="11" name="Rectangle 10">
            <a:extLst>
              <a:ext uri="{FF2B5EF4-FFF2-40B4-BE49-F238E27FC236}">
                <a16:creationId xmlns:a16="http://schemas.microsoft.com/office/drawing/2014/main" id="{B65BF5FC-9208-44B5-8EC6-D6AAEBC0D8E7}"/>
              </a:ext>
            </a:extLst>
          </p:cNvPr>
          <p:cNvSpPr>
            <a:spLocks noGrp="1"/>
          </p:cNvSpPr>
          <p:nvPr/>
        </p:nvSpPr>
        <p:spPr>
          <a:xfrm>
            <a:off x="4743450" y="3219450"/>
            <a:ext cx="2571750" cy="266700"/>
          </a:xfrm>
          <a:prstGeom prst="rect">
            <a:avLst/>
          </a:prstGeom>
          <a:noFill/>
          <a:ln w="0">
            <a:noFill/>
            <a:prstDash val="solid"/>
          </a:ln>
        </p:spPr>
        <p:txBody>
          <a:bodyPr/>
          <a:lstStyle/>
          <a:p>
            <a:pPr algn="l">
              <a:defRPr sz="1575" b="1">
                <a:solidFill>
                  <a:srgbClr val="111111"/>
                </a:solidFill>
              </a:defRPr>
            </a:pPr>
            <a:r>
              <a:rPr sz="1575" b="1">
                <a:solidFill>
                  <a:srgbClr val="111111"/>
                </a:solidFill>
              </a:rPr>
              <a:t>BikeMate.Api</a:t>
            </a:r>
          </a:p>
        </p:txBody>
      </p:sp>
      <p:sp>
        <p:nvSpPr>
          <p:cNvPr id="12" name="Rectangle 11">
            <a:extLst>
              <a:ext uri="{FF2B5EF4-FFF2-40B4-BE49-F238E27FC236}">
                <a16:creationId xmlns:a16="http://schemas.microsoft.com/office/drawing/2014/main" id="{4BE47E3C-AAFE-4349-8C90-A0EF2FF17DEF}"/>
              </a:ext>
            </a:extLst>
          </p:cNvPr>
          <p:cNvSpPr>
            <a:spLocks noGrp="1"/>
          </p:cNvSpPr>
          <p:nvPr/>
        </p:nvSpPr>
        <p:spPr>
          <a:xfrm>
            <a:off x="4743450" y="3524250"/>
            <a:ext cx="2571750" cy="361950"/>
          </a:xfrm>
          <a:prstGeom prst="rect">
            <a:avLst/>
          </a:prstGeom>
          <a:noFill/>
          <a:ln w="0">
            <a:noFill/>
            <a:prstDash val="solid"/>
          </a:ln>
        </p:spPr>
        <p:txBody>
          <a:bodyPr/>
          <a:lstStyle/>
          <a:p>
            <a:pPr algn="l">
              <a:defRPr sz="1125" b="0">
                <a:solidFill>
                  <a:srgbClr val="5F6268"/>
                </a:solidFill>
              </a:defRPr>
            </a:pPr>
            <a:r>
              <a:rPr sz="1125" b="0">
                <a:solidFill>
                  <a:srgbClr val="5F6268"/>
                </a:solidFill>
              </a:rPr>
              <a:t>Authentication, requests, messaging, payments, emergency, reports</a:t>
            </a:r>
          </a:p>
        </p:txBody>
      </p:sp>
      <p:sp>
        <p:nvSpPr>
          <p:cNvPr id="13" name="Rectangle 12">
            <a:extLst>
              <a:ext uri="{FF2B5EF4-FFF2-40B4-BE49-F238E27FC236}">
                <a16:creationId xmlns:a16="http://schemas.microsoft.com/office/drawing/2014/main" id="{A8393E38-3146-4D92-9546-818F455E44DC}"/>
              </a:ext>
            </a:extLst>
          </p:cNvPr>
          <p:cNvSpPr>
            <a:spLocks noGrp="1"/>
          </p:cNvSpPr>
          <p:nvPr/>
        </p:nvSpPr>
        <p:spPr>
          <a:xfrm>
            <a:off x="8096250" y="2324100"/>
            <a:ext cx="2914650" cy="990600"/>
          </a:xfrm>
          <a:prstGeom prst="rect">
            <a:avLst/>
          </a:prstGeom>
          <a:solidFill>
            <a:srgbClr val="FAFAFA"/>
          </a:solidFill>
          <a:ln w="9525">
            <a:solidFill>
              <a:srgbClr val="D8DBE0"/>
            </a:solidFill>
            <a:prstDash val="solid"/>
          </a:ln>
        </p:spPr>
        <p:txBody>
          <a:bodyPr/>
          <a:lstStyle/>
          <a:p>
            <a:endParaRPr lang="en-PH"/>
          </a:p>
        </p:txBody>
      </p:sp>
      <p:sp>
        <p:nvSpPr>
          <p:cNvPr id="14" name="Rectangle 13">
            <a:extLst>
              <a:ext uri="{FF2B5EF4-FFF2-40B4-BE49-F238E27FC236}">
                <a16:creationId xmlns:a16="http://schemas.microsoft.com/office/drawing/2014/main" id="{7240688C-73EB-49B0-B4BE-BB79AFE79C31}"/>
              </a:ext>
            </a:extLst>
          </p:cNvPr>
          <p:cNvSpPr>
            <a:spLocks noGrp="1"/>
          </p:cNvSpPr>
          <p:nvPr/>
        </p:nvSpPr>
        <p:spPr>
          <a:xfrm>
            <a:off x="8267700" y="2495550"/>
            <a:ext cx="2571750" cy="266700"/>
          </a:xfrm>
          <a:prstGeom prst="rect">
            <a:avLst/>
          </a:prstGeom>
          <a:noFill/>
          <a:ln w="0">
            <a:noFill/>
            <a:prstDash val="solid"/>
          </a:ln>
        </p:spPr>
        <p:txBody>
          <a:bodyPr/>
          <a:lstStyle/>
          <a:p>
            <a:pPr algn="l">
              <a:defRPr sz="1575" b="1">
                <a:solidFill>
                  <a:srgbClr val="111111"/>
                </a:solidFill>
              </a:defRPr>
            </a:pPr>
            <a:r>
              <a:rPr sz="1575" b="1">
                <a:solidFill>
                  <a:srgbClr val="111111"/>
                </a:solidFill>
              </a:rPr>
              <a:t>BikeMate.Core</a:t>
            </a:r>
          </a:p>
        </p:txBody>
      </p:sp>
      <p:sp>
        <p:nvSpPr>
          <p:cNvPr id="15" name="Rectangle 14">
            <a:extLst>
              <a:ext uri="{FF2B5EF4-FFF2-40B4-BE49-F238E27FC236}">
                <a16:creationId xmlns:a16="http://schemas.microsoft.com/office/drawing/2014/main" id="{4AD95A35-3173-4F5A-A8AE-356342FFBB80}"/>
              </a:ext>
            </a:extLst>
          </p:cNvPr>
          <p:cNvSpPr>
            <a:spLocks noGrp="1"/>
          </p:cNvSpPr>
          <p:nvPr/>
        </p:nvSpPr>
        <p:spPr>
          <a:xfrm>
            <a:off x="8267700" y="2800350"/>
            <a:ext cx="2571750" cy="361950"/>
          </a:xfrm>
          <a:prstGeom prst="rect">
            <a:avLst/>
          </a:prstGeom>
          <a:noFill/>
          <a:ln w="0">
            <a:noFill/>
            <a:prstDash val="solid"/>
          </a:ln>
        </p:spPr>
        <p:txBody>
          <a:bodyPr/>
          <a:lstStyle/>
          <a:p>
            <a:pPr algn="l">
              <a:defRPr sz="1125" b="0">
                <a:solidFill>
                  <a:srgbClr val="5F6268"/>
                </a:solidFill>
              </a:defRPr>
            </a:pPr>
            <a:r>
              <a:rPr sz="1125" b="0">
                <a:solidFill>
                  <a:srgbClr val="5F6268"/>
                </a:solidFill>
              </a:rPr>
              <a:t>DTOs, constants, and entity contracts shared by projects</a:t>
            </a:r>
          </a:p>
        </p:txBody>
      </p:sp>
      <p:sp>
        <p:nvSpPr>
          <p:cNvPr id="16" name="Rectangle 15">
            <a:extLst>
              <a:ext uri="{FF2B5EF4-FFF2-40B4-BE49-F238E27FC236}">
                <a16:creationId xmlns:a16="http://schemas.microsoft.com/office/drawing/2014/main" id="{C83DDE08-E1B2-4916-AFA5-B66E3FC2197A}"/>
              </a:ext>
            </a:extLst>
          </p:cNvPr>
          <p:cNvSpPr>
            <a:spLocks noGrp="1"/>
          </p:cNvSpPr>
          <p:nvPr/>
        </p:nvSpPr>
        <p:spPr>
          <a:xfrm>
            <a:off x="8096250" y="3771900"/>
            <a:ext cx="2914650" cy="990600"/>
          </a:xfrm>
          <a:prstGeom prst="rect">
            <a:avLst/>
          </a:prstGeom>
          <a:solidFill>
            <a:srgbClr val="FAFAFA"/>
          </a:solidFill>
          <a:ln w="9525">
            <a:solidFill>
              <a:srgbClr val="D8DBE0"/>
            </a:solidFill>
            <a:prstDash val="solid"/>
          </a:ln>
        </p:spPr>
        <p:txBody>
          <a:bodyPr/>
          <a:lstStyle/>
          <a:p>
            <a:endParaRPr lang="en-PH"/>
          </a:p>
        </p:txBody>
      </p:sp>
      <p:sp>
        <p:nvSpPr>
          <p:cNvPr id="17" name="Rectangle 16">
            <a:extLst>
              <a:ext uri="{FF2B5EF4-FFF2-40B4-BE49-F238E27FC236}">
                <a16:creationId xmlns:a16="http://schemas.microsoft.com/office/drawing/2014/main" id="{C8C5B4A7-8AF1-4B83-8C43-C7328AD810A0}"/>
              </a:ext>
            </a:extLst>
          </p:cNvPr>
          <p:cNvSpPr>
            <a:spLocks noGrp="1"/>
          </p:cNvSpPr>
          <p:nvPr/>
        </p:nvSpPr>
        <p:spPr>
          <a:xfrm>
            <a:off x="8267700" y="3943350"/>
            <a:ext cx="2571750" cy="266700"/>
          </a:xfrm>
          <a:prstGeom prst="rect">
            <a:avLst/>
          </a:prstGeom>
          <a:noFill/>
          <a:ln w="0">
            <a:noFill/>
            <a:prstDash val="solid"/>
          </a:ln>
        </p:spPr>
        <p:txBody>
          <a:bodyPr/>
          <a:lstStyle/>
          <a:p>
            <a:pPr algn="l">
              <a:defRPr sz="1575" b="1">
                <a:solidFill>
                  <a:srgbClr val="111111"/>
                </a:solidFill>
              </a:defRPr>
            </a:pPr>
            <a:r>
              <a:rPr sz="1575" b="1">
                <a:solidFill>
                  <a:srgbClr val="111111"/>
                </a:solidFill>
              </a:rPr>
              <a:t>BikeMate.Infrastructure</a:t>
            </a:r>
          </a:p>
        </p:txBody>
      </p:sp>
      <p:sp>
        <p:nvSpPr>
          <p:cNvPr id="18" name="Rectangle 17">
            <a:extLst>
              <a:ext uri="{FF2B5EF4-FFF2-40B4-BE49-F238E27FC236}">
                <a16:creationId xmlns:a16="http://schemas.microsoft.com/office/drawing/2014/main" id="{E8D8D6C8-6CD7-4579-84B1-6E2F0B036A3C}"/>
              </a:ext>
            </a:extLst>
          </p:cNvPr>
          <p:cNvSpPr>
            <a:spLocks noGrp="1"/>
          </p:cNvSpPr>
          <p:nvPr/>
        </p:nvSpPr>
        <p:spPr>
          <a:xfrm>
            <a:off x="8267700" y="4248150"/>
            <a:ext cx="2571750" cy="361950"/>
          </a:xfrm>
          <a:prstGeom prst="rect">
            <a:avLst/>
          </a:prstGeom>
          <a:noFill/>
          <a:ln w="0">
            <a:noFill/>
            <a:prstDash val="solid"/>
          </a:ln>
        </p:spPr>
        <p:txBody>
          <a:bodyPr/>
          <a:lstStyle/>
          <a:p>
            <a:pPr algn="l">
              <a:defRPr sz="1125" b="0">
                <a:solidFill>
                  <a:srgbClr val="5F6268"/>
                </a:solidFill>
              </a:defRPr>
            </a:pPr>
            <a:r>
              <a:rPr sz="1125" b="0">
                <a:solidFill>
                  <a:srgbClr val="5F6268"/>
                </a:solidFill>
              </a:rPr>
              <a:t>EF Core DbContext, SQL Server migrations, and scripts</a:t>
            </a:r>
          </a:p>
        </p:txBody>
      </p:sp>
      <p:sp>
        <p:nvSpPr>
          <p:cNvPr id="19" name="Straight Connector 18">
            <a:extLst>
              <a:ext uri="{FF2B5EF4-FFF2-40B4-BE49-F238E27FC236}">
                <a16:creationId xmlns:a16="http://schemas.microsoft.com/office/drawing/2014/main" id="{E4C2BB68-F763-49DE-9059-6E2274D3DC83}"/>
              </a:ext>
            </a:extLst>
          </p:cNvPr>
          <p:cNvSpPr>
            <a:spLocks noGrp="1"/>
          </p:cNvSpPr>
          <p:nvPr/>
        </p:nvSpPr>
        <p:spPr>
          <a:xfrm>
            <a:off x="3600450" y="2819400"/>
            <a:ext cx="971550" cy="257175"/>
          </a:xfrm>
          <a:prstGeom prst="line">
            <a:avLst/>
          </a:prstGeom>
          <a:ln w="19050">
            <a:solidFill>
              <a:srgbClr val="FF6B2C"/>
            </a:solidFill>
            <a:prstDash val="solid"/>
          </a:ln>
        </p:spPr>
        <p:txBody>
          <a:bodyPr/>
          <a:lstStyle/>
          <a:p>
            <a:endParaRPr lang="en-PH"/>
          </a:p>
        </p:txBody>
      </p:sp>
      <p:sp>
        <p:nvSpPr>
          <p:cNvPr id="20" name="Straight Connector 19">
            <a:extLst>
              <a:ext uri="{FF2B5EF4-FFF2-40B4-BE49-F238E27FC236}">
                <a16:creationId xmlns:a16="http://schemas.microsoft.com/office/drawing/2014/main" id="{E14030DE-20D2-49AD-87DA-AD6C510CCE94}"/>
              </a:ext>
            </a:extLst>
          </p:cNvPr>
          <p:cNvSpPr>
            <a:spLocks noGrp="1"/>
          </p:cNvSpPr>
          <p:nvPr/>
        </p:nvSpPr>
        <p:spPr>
          <a:xfrm>
            <a:off x="3600450" y="3886200"/>
            <a:ext cx="971550" cy="123825"/>
          </a:xfrm>
          <a:prstGeom prst="line">
            <a:avLst/>
          </a:prstGeom>
          <a:ln w="19050">
            <a:solidFill>
              <a:srgbClr val="FF6B2C"/>
            </a:solidFill>
            <a:prstDash val="solid"/>
          </a:ln>
        </p:spPr>
        <p:txBody>
          <a:bodyPr/>
          <a:lstStyle/>
          <a:p>
            <a:endParaRPr lang="en-PH"/>
          </a:p>
        </p:txBody>
      </p:sp>
      <p:sp>
        <p:nvSpPr>
          <p:cNvPr id="21" name="Straight Connector 20">
            <a:extLst>
              <a:ext uri="{FF2B5EF4-FFF2-40B4-BE49-F238E27FC236}">
                <a16:creationId xmlns:a16="http://schemas.microsoft.com/office/drawing/2014/main" id="{9E33D925-FD36-4D0F-A3AD-7936C8CA60F6}"/>
              </a:ext>
            </a:extLst>
          </p:cNvPr>
          <p:cNvSpPr>
            <a:spLocks noGrp="1"/>
          </p:cNvSpPr>
          <p:nvPr/>
        </p:nvSpPr>
        <p:spPr>
          <a:xfrm flipV="1">
            <a:off x="7486650" y="2371724"/>
            <a:ext cx="609600" cy="704850"/>
          </a:xfrm>
          <a:prstGeom prst="line">
            <a:avLst/>
          </a:prstGeom>
          <a:ln w="19050">
            <a:solidFill>
              <a:srgbClr val="FF6B2C"/>
            </a:solidFill>
            <a:prstDash val="solid"/>
          </a:ln>
        </p:spPr>
        <p:txBody>
          <a:bodyPr/>
          <a:lstStyle/>
          <a:p>
            <a:endParaRPr lang="en-PH"/>
          </a:p>
        </p:txBody>
      </p:sp>
      <p:sp>
        <p:nvSpPr>
          <p:cNvPr id="22" name="Straight Connector 21">
            <a:extLst>
              <a:ext uri="{FF2B5EF4-FFF2-40B4-BE49-F238E27FC236}">
                <a16:creationId xmlns:a16="http://schemas.microsoft.com/office/drawing/2014/main" id="{F7ED1E73-745B-4237-A99A-0E453C1A7A3C}"/>
              </a:ext>
            </a:extLst>
          </p:cNvPr>
          <p:cNvSpPr>
            <a:spLocks noGrp="1"/>
          </p:cNvSpPr>
          <p:nvPr/>
        </p:nvSpPr>
        <p:spPr>
          <a:xfrm>
            <a:off x="7486650" y="3333750"/>
            <a:ext cx="609600" cy="933450"/>
          </a:xfrm>
          <a:prstGeom prst="line">
            <a:avLst/>
          </a:prstGeom>
          <a:ln w="19050">
            <a:solidFill>
              <a:srgbClr val="FF6B2C"/>
            </a:solidFill>
            <a:prstDash val="solid"/>
          </a:ln>
        </p:spPr>
        <p:txBody>
          <a:bodyPr/>
          <a:lstStyle/>
          <a:p>
            <a:endParaRPr lang="en-PH"/>
          </a:p>
        </p:txBody>
      </p:sp>
      <p:sp>
        <p:nvSpPr>
          <p:cNvPr id="23" name="Rectangle 22">
            <a:extLst>
              <a:ext uri="{FF2B5EF4-FFF2-40B4-BE49-F238E27FC236}">
                <a16:creationId xmlns:a16="http://schemas.microsoft.com/office/drawing/2014/main" id="{B9A625D5-95E6-4DC8-B9E3-5103686976A6}"/>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24" name="Rectangle 23">
            <a:extLst>
              <a:ext uri="{FF2B5EF4-FFF2-40B4-BE49-F238E27FC236}">
                <a16:creationId xmlns:a16="http://schemas.microsoft.com/office/drawing/2014/main" id="{1FFD60EA-7F30-4E9D-B4F4-5772CDB16BD7}"/>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06</a:t>
            </a:r>
          </a:p>
        </p:txBody>
      </p:sp>
    </p:spTree>
    <p:extLst>
      <p:ext uri="{BB962C8B-B14F-4D97-AF65-F5344CB8AC3E}">
        <p14:creationId xmlns:p14="http://schemas.microsoft.com/office/powerpoint/2010/main" val="127265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526C638-5474-4399-B49D-52137F08EC97}"/>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6B654719-646B-4557-B785-83435DF02DA9}"/>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technology stack is built around .NET with SQL Server persistence.</a:t>
            </a:r>
          </a:p>
        </p:txBody>
      </p:sp>
      <p:sp>
        <p:nvSpPr>
          <p:cNvPr id="3" name="Rectangle 2">
            <a:extLst>
              <a:ext uri="{FF2B5EF4-FFF2-40B4-BE49-F238E27FC236}">
                <a16:creationId xmlns:a16="http://schemas.microsoft.com/office/drawing/2014/main" id="{B0523500-571F-4EF8-A32B-6842E66FA98A}"/>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0003E2E8-31E9-4188-8374-7BAB89E18461}"/>
              </a:ext>
            </a:extLst>
          </p:cNvPr>
          <p:cNvSpPr>
            <a:spLocks noGrp="1"/>
          </p:cNvSpPr>
          <p:nvPr/>
        </p:nvSpPr>
        <p:spPr>
          <a:xfrm>
            <a:off x="819150" y="2095500"/>
            <a:ext cx="2667000" cy="304800"/>
          </a:xfrm>
          <a:prstGeom prst="rect">
            <a:avLst/>
          </a:prstGeom>
          <a:noFill/>
          <a:ln w="0">
            <a:noFill/>
            <a:prstDash val="solid"/>
          </a:ln>
        </p:spPr>
        <p:txBody>
          <a:bodyPr/>
          <a:lstStyle/>
          <a:p>
            <a:pPr algn="l">
              <a:defRPr sz="1650" b="1">
                <a:solidFill>
                  <a:srgbClr val="111111"/>
                </a:solidFill>
              </a:defRPr>
            </a:pPr>
            <a:r>
              <a:rPr sz="1650" b="1">
                <a:solidFill>
                  <a:srgbClr val="111111"/>
                </a:solidFill>
              </a:rPr>
              <a:t>Mobile</a:t>
            </a:r>
          </a:p>
        </p:txBody>
      </p:sp>
      <p:sp>
        <p:nvSpPr>
          <p:cNvPr id="5" name="Rectangle 4">
            <a:extLst>
              <a:ext uri="{FF2B5EF4-FFF2-40B4-BE49-F238E27FC236}">
                <a16:creationId xmlns:a16="http://schemas.microsoft.com/office/drawing/2014/main" id="{53FCFA0D-52A5-43BF-89CA-061F21474F70}"/>
              </a:ext>
            </a:extLst>
          </p:cNvPr>
          <p:cNvSpPr>
            <a:spLocks noGrp="1"/>
          </p:cNvSpPr>
          <p:nvPr/>
        </p:nvSpPr>
        <p:spPr>
          <a:xfrm>
            <a:off x="3524250" y="2095500"/>
            <a:ext cx="7239000" cy="304800"/>
          </a:xfrm>
          <a:prstGeom prst="rect">
            <a:avLst/>
          </a:prstGeom>
          <a:noFill/>
          <a:ln w="0">
            <a:noFill/>
            <a:prstDash val="solid"/>
          </a:ln>
        </p:spPr>
        <p:txBody>
          <a:bodyPr/>
          <a:lstStyle/>
          <a:p>
            <a:pPr algn="l">
              <a:defRPr sz="1575" b="0">
                <a:solidFill>
                  <a:srgbClr val="5F6268"/>
                </a:solidFill>
              </a:defRPr>
            </a:pPr>
            <a:r>
              <a:rPr sz="1575" b="0">
                <a:solidFill>
                  <a:srgbClr val="5F6268"/>
                </a:solidFill>
              </a:rPr>
              <a:t>.NET MAUI, C#, XAML, Android target</a:t>
            </a:r>
          </a:p>
        </p:txBody>
      </p:sp>
      <p:sp>
        <p:nvSpPr>
          <p:cNvPr id="6" name="Rectangle 5">
            <a:extLst>
              <a:ext uri="{FF2B5EF4-FFF2-40B4-BE49-F238E27FC236}">
                <a16:creationId xmlns:a16="http://schemas.microsoft.com/office/drawing/2014/main" id="{5A21EB29-0EF5-4F2A-BCF1-22ABD678A1E9}"/>
              </a:ext>
            </a:extLst>
          </p:cNvPr>
          <p:cNvSpPr>
            <a:spLocks noGrp="1"/>
          </p:cNvSpPr>
          <p:nvPr/>
        </p:nvSpPr>
        <p:spPr>
          <a:xfrm>
            <a:off x="819150" y="2514600"/>
            <a:ext cx="9906000" cy="9525"/>
          </a:xfrm>
          <a:prstGeom prst="rect">
            <a:avLst/>
          </a:prstGeom>
          <a:solidFill>
            <a:srgbClr val="B9BDC4"/>
          </a:solidFill>
          <a:ln w="0">
            <a:solidFill>
              <a:srgbClr val="B9BDC4"/>
            </a:solidFill>
            <a:prstDash val="solid"/>
          </a:ln>
        </p:spPr>
        <p:txBody>
          <a:bodyPr/>
          <a:lstStyle/>
          <a:p>
            <a:endParaRPr lang="en-PH"/>
          </a:p>
        </p:txBody>
      </p:sp>
      <p:sp>
        <p:nvSpPr>
          <p:cNvPr id="7" name="Rectangle 6">
            <a:extLst>
              <a:ext uri="{FF2B5EF4-FFF2-40B4-BE49-F238E27FC236}">
                <a16:creationId xmlns:a16="http://schemas.microsoft.com/office/drawing/2014/main" id="{93A2ED38-12A9-459B-B09F-9A81879E92E4}"/>
              </a:ext>
            </a:extLst>
          </p:cNvPr>
          <p:cNvSpPr>
            <a:spLocks noGrp="1"/>
          </p:cNvSpPr>
          <p:nvPr/>
        </p:nvSpPr>
        <p:spPr>
          <a:xfrm>
            <a:off x="819150" y="2686050"/>
            <a:ext cx="2667000" cy="304800"/>
          </a:xfrm>
          <a:prstGeom prst="rect">
            <a:avLst/>
          </a:prstGeom>
          <a:noFill/>
          <a:ln w="0">
            <a:noFill/>
            <a:prstDash val="solid"/>
          </a:ln>
        </p:spPr>
        <p:txBody>
          <a:bodyPr/>
          <a:lstStyle/>
          <a:p>
            <a:pPr algn="l">
              <a:defRPr sz="1650" b="1">
                <a:solidFill>
                  <a:srgbClr val="111111"/>
                </a:solidFill>
              </a:defRPr>
            </a:pPr>
            <a:r>
              <a:rPr sz="1650" b="1">
                <a:solidFill>
                  <a:srgbClr val="111111"/>
                </a:solidFill>
              </a:rPr>
              <a:t>Backend</a:t>
            </a:r>
          </a:p>
        </p:txBody>
      </p:sp>
      <p:sp>
        <p:nvSpPr>
          <p:cNvPr id="8" name="Rectangle 7">
            <a:extLst>
              <a:ext uri="{FF2B5EF4-FFF2-40B4-BE49-F238E27FC236}">
                <a16:creationId xmlns:a16="http://schemas.microsoft.com/office/drawing/2014/main" id="{848F666F-7177-4CCA-B6AF-B838482C74BA}"/>
              </a:ext>
            </a:extLst>
          </p:cNvPr>
          <p:cNvSpPr>
            <a:spLocks noGrp="1"/>
          </p:cNvSpPr>
          <p:nvPr/>
        </p:nvSpPr>
        <p:spPr>
          <a:xfrm>
            <a:off x="3524250" y="2686050"/>
            <a:ext cx="7239000" cy="304800"/>
          </a:xfrm>
          <a:prstGeom prst="rect">
            <a:avLst/>
          </a:prstGeom>
          <a:noFill/>
          <a:ln w="0">
            <a:noFill/>
            <a:prstDash val="solid"/>
          </a:ln>
        </p:spPr>
        <p:txBody>
          <a:bodyPr/>
          <a:lstStyle/>
          <a:p>
            <a:pPr algn="l">
              <a:defRPr sz="1575" b="0">
                <a:solidFill>
                  <a:srgbClr val="5F6268"/>
                </a:solidFill>
              </a:defRPr>
            </a:pPr>
            <a:r>
              <a:rPr sz="1575" b="0">
                <a:solidFill>
                  <a:srgbClr val="5F6268"/>
                </a:solidFill>
              </a:rPr>
              <a:t>ASP.NET Core Web API, JWT bearer authentication, SignalR</a:t>
            </a:r>
          </a:p>
        </p:txBody>
      </p:sp>
      <p:sp>
        <p:nvSpPr>
          <p:cNvPr id="9" name="Rectangle 8">
            <a:extLst>
              <a:ext uri="{FF2B5EF4-FFF2-40B4-BE49-F238E27FC236}">
                <a16:creationId xmlns:a16="http://schemas.microsoft.com/office/drawing/2014/main" id="{44537776-AF17-4377-9486-105650B26C63}"/>
              </a:ext>
            </a:extLst>
          </p:cNvPr>
          <p:cNvSpPr>
            <a:spLocks noGrp="1"/>
          </p:cNvSpPr>
          <p:nvPr/>
        </p:nvSpPr>
        <p:spPr>
          <a:xfrm>
            <a:off x="819150" y="3105150"/>
            <a:ext cx="9906000" cy="9525"/>
          </a:xfrm>
          <a:prstGeom prst="rect">
            <a:avLst/>
          </a:prstGeom>
          <a:solidFill>
            <a:srgbClr val="B9BDC4"/>
          </a:solidFill>
          <a:ln w="0">
            <a:solidFill>
              <a:srgbClr val="B9BDC4"/>
            </a:solidFill>
            <a:prstDash val="solid"/>
          </a:ln>
        </p:spPr>
        <p:txBody>
          <a:bodyPr/>
          <a:lstStyle/>
          <a:p>
            <a:endParaRPr lang="en-PH"/>
          </a:p>
        </p:txBody>
      </p:sp>
      <p:sp>
        <p:nvSpPr>
          <p:cNvPr id="10" name="Rectangle 9">
            <a:extLst>
              <a:ext uri="{FF2B5EF4-FFF2-40B4-BE49-F238E27FC236}">
                <a16:creationId xmlns:a16="http://schemas.microsoft.com/office/drawing/2014/main" id="{F394D8FD-FE54-4410-9E37-02F5711D6A1A}"/>
              </a:ext>
            </a:extLst>
          </p:cNvPr>
          <p:cNvSpPr>
            <a:spLocks noGrp="1"/>
          </p:cNvSpPr>
          <p:nvPr/>
        </p:nvSpPr>
        <p:spPr>
          <a:xfrm>
            <a:off x="819150" y="3276600"/>
            <a:ext cx="2667000" cy="304800"/>
          </a:xfrm>
          <a:prstGeom prst="rect">
            <a:avLst/>
          </a:prstGeom>
          <a:noFill/>
          <a:ln w="0">
            <a:noFill/>
            <a:prstDash val="solid"/>
          </a:ln>
        </p:spPr>
        <p:txBody>
          <a:bodyPr/>
          <a:lstStyle/>
          <a:p>
            <a:pPr algn="l">
              <a:defRPr sz="1650" b="1">
                <a:solidFill>
                  <a:srgbClr val="111111"/>
                </a:solidFill>
              </a:defRPr>
            </a:pPr>
            <a:r>
              <a:rPr sz="1650" b="1">
                <a:solidFill>
                  <a:srgbClr val="111111"/>
                </a:solidFill>
              </a:rPr>
              <a:t>Data</a:t>
            </a:r>
          </a:p>
        </p:txBody>
      </p:sp>
      <p:sp>
        <p:nvSpPr>
          <p:cNvPr id="11" name="Rectangle 10">
            <a:extLst>
              <a:ext uri="{FF2B5EF4-FFF2-40B4-BE49-F238E27FC236}">
                <a16:creationId xmlns:a16="http://schemas.microsoft.com/office/drawing/2014/main" id="{860C9862-E1FD-4E17-9575-059C444D9E4F}"/>
              </a:ext>
            </a:extLst>
          </p:cNvPr>
          <p:cNvSpPr>
            <a:spLocks noGrp="1"/>
          </p:cNvSpPr>
          <p:nvPr/>
        </p:nvSpPr>
        <p:spPr>
          <a:xfrm>
            <a:off x="3524250" y="3276600"/>
            <a:ext cx="7239000" cy="304800"/>
          </a:xfrm>
          <a:prstGeom prst="rect">
            <a:avLst/>
          </a:prstGeom>
          <a:noFill/>
          <a:ln w="0">
            <a:noFill/>
            <a:prstDash val="solid"/>
          </a:ln>
        </p:spPr>
        <p:txBody>
          <a:bodyPr/>
          <a:lstStyle/>
          <a:p>
            <a:pPr algn="l">
              <a:defRPr sz="1575" b="0">
                <a:solidFill>
                  <a:srgbClr val="5F6268"/>
                </a:solidFill>
              </a:defRPr>
            </a:pPr>
            <a:r>
              <a:rPr sz="1575" b="0">
                <a:solidFill>
                  <a:srgbClr val="5F6268"/>
                </a:solidFill>
              </a:rPr>
              <a:t>SQL Server, Entity Framework Core, migrations, SQL scripts</a:t>
            </a:r>
          </a:p>
        </p:txBody>
      </p:sp>
      <p:sp>
        <p:nvSpPr>
          <p:cNvPr id="12" name="Rectangle 11">
            <a:extLst>
              <a:ext uri="{FF2B5EF4-FFF2-40B4-BE49-F238E27FC236}">
                <a16:creationId xmlns:a16="http://schemas.microsoft.com/office/drawing/2014/main" id="{74E2E0D7-6C88-40BD-B625-34AC7AAE6FD5}"/>
              </a:ext>
            </a:extLst>
          </p:cNvPr>
          <p:cNvSpPr>
            <a:spLocks noGrp="1"/>
          </p:cNvSpPr>
          <p:nvPr/>
        </p:nvSpPr>
        <p:spPr>
          <a:xfrm>
            <a:off x="819150" y="3695700"/>
            <a:ext cx="9906000" cy="9525"/>
          </a:xfrm>
          <a:prstGeom prst="rect">
            <a:avLst/>
          </a:prstGeom>
          <a:solidFill>
            <a:srgbClr val="B9BDC4"/>
          </a:solidFill>
          <a:ln w="0">
            <a:solidFill>
              <a:srgbClr val="B9BDC4"/>
            </a:solidFill>
            <a:prstDash val="solid"/>
          </a:ln>
        </p:spPr>
        <p:txBody>
          <a:bodyPr/>
          <a:lstStyle/>
          <a:p>
            <a:endParaRPr lang="en-PH"/>
          </a:p>
        </p:txBody>
      </p:sp>
      <p:sp>
        <p:nvSpPr>
          <p:cNvPr id="13" name="Rectangle 12">
            <a:extLst>
              <a:ext uri="{FF2B5EF4-FFF2-40B4-BE49-F238E27FC236}">
                <a16:creationId xmlns:a16="http://schemas.microsoft.com/office/drawing/2014/main" id="{1B397E0D-DCA6-4B80-9C64-0A6F91638646}"/>
              </a:ext>
            </a:extLst>
          </p:cNvPr>
          <p:cNvSpPr>
            <a:spLocks noGrp="1"/>
          </p:cNvSpPr>
          <p:nvPr/>
        </p:nvSpPr>
        <p:spPr>
          <a:xfrm>
            <a:off x="819150" y="3867150"/>
            <a:ext cx="2667000" cy="304800"/>
          </a:xfrm>
          <a:prstGeom prst="rect">
            <a:avLst/>
          </a:prstGeom>
          <a:noFill/>
          <a:ln w="0">
            <a:noFill/>
            <a:prstDash val="solid"/>
          </a:ln>
        </p:spPr>
        <p:txBody>
          <a:bodyPr/>
          <a:lstStyle/>
          <a:p>
            <a:pPr algn="l">
              <a:defRPr sz="1650" b="1">
                <a:solidFill>
                  <a:srgbClr val="111111"/>
                </a:solidFill>
              </a:defRPr>
            </a:pPr>
            <a:r>
              <a:rPr sz="1650" b="1">
                <a:solidFill>
                  <a:srgbClr val="111111"/>
                </a:solidFill>
              </a:rPr>
              <a:t>Web Admin</a:t>
            </a:r>
          </a:p>
        </p:txBody>
      </p:sp>
      <p:sp>
        <p:nvSpPr>
          <p:cNvPr id="14" name="Rectangle 13">
            <a:extLst>
              <a:ext uri="{FF2B5EF4-FFF2-40B4-BE49-F238E27FC236}">
                <a16:creationId xmlns:a16="http://schemas.microsoft.com/office/drawing/2014/main" id="{DF333D17-C8D8-461A-9581-8542B54A3A00}"/>
              </a:ext>
            </a:extLst>
          </p:cNvPr>
          <p:cNvSpPr>
            <a:spLocks noGrp="1"/>
          </p:cNvSpPr>
          <p:nvPr/>
        </p:nvSpPr>
        <p:spPr>
          <a:xfrm>
            <a:off x="3524250" y="3867150"/>
            <a:ext cx="7239000" cy="304800"/>
          </a:xfrm>
          <a:prstGeom prst="rect">
            <a:avLst/>
          </a:prstGeom>
          <a:noFill/>
          <a:ln w="0">
            <a:noFill/>
            <a:prstDash val="solid"/>
          </a:ln>
        </p:spPr>
        <p:txBody>
          <a:bodyPr/>
          <a:lstStyle/>
          <a:p>
            <a:pPr algn="l">
              <a:defRPr sz="1575" b="0">
                <a:solidFill>
                  <a:srgbClr val="5F6268"/>
                </a:solidFill>
              </a:defRPr>
            </a:pPr>
            <a:r>
              <a:rPr sz="1575" b="0">
                <a:solidFill>
                  <a:srgbClr val="5F6268"/>
                </a:solidFill>
              </a:rPr>
              <a:t>Blazor, Razor components, Bootstrap styling</a:t>
            </a:r>
          </a:p>
        </p:txBody>
      </p:sp>
      <p:sp>
        <p:nvSpPr>
          <p:cNvPr id="15" name="Rectangle 14">
            <a:extLst>
              <a:ext uri="{FF2B5EF4-FFF2-40B4-BE49-F238E27FC236}">
                <a16:creationId xmlns:a16="http://schemas.microsoft.com/office/drawing/2014/main" id="{24AABFC6-A612-41E4-A8CB-5768BCC1AB6A}"/>
              </a:ext>
            </a:extLst>
          </p:cNvPr>
          <p:cNvSpPr>
            <a:spLocks noGrp="1"/>
          </p:cNvSpPr>
          <p:nvPr/>
        </p:nvSpPr>
        <p:spPr>
          <a:xfrm>
            <a:off x="819150" y="4286250"/>
            <a:ext cx="9906000" cy="9525"/>
          </a:xfrm>
          <a:prstGeom prst="rect">
            <a:avLst/>
          </a:prstGeom>
          <a:solidFill>
            <a:srgbClr val="B9BDC4"/>
          </a:solidFill>
          <a:ln w="0">
            <a:solidFill>
              <a:srgbClr val="B9BDC4"/>
            </a:solidFill>
            <a:prstDash val="solid"/>
          </a:ln>
        </p:spPr>
        <p:txBody>
          <a:bodyPr/>
          <a:lstStyle/>
          <a:p>
            <a:endParaRPr lang="en-PH"/>
          </a:p>
        </p:txBody>
      </p:sp>
      <p:sp>
        <p:nvSpPr>
          <p:cNvPr id="16" name="Rectangle 15">
            <a:extLst>
              <a:ext uri="{FF2B5EF4-FFF2-40B4-BE49-F238E27FC236}">
                <a16:creationId xmlns:a16="http://schemas.microsoft.com/office/drawing/2014/main" id="{5848AEAC-D42D-4A00-87FF-70A8149F8885}"/>
              </a:ext>
            </a:extLst>
          </p:cNvPr>
          <p:cNvSpPr>
            <a:spLocks noGrp="1"/>
          </p:cNvSpPr>
          <p:nvPr/>
        </p:nvSpPr>
        <p:spPr>
          <a:xfrm>
            <a:off x="819150" y="4457700"/>
            <a:ext cx="2667000" cy="304800"/>
          </a:xfrm>
          <a:prstGeom prst="rect">
            <a:avLst/>
          </a:prstGeom>
          <a:noFill/>
          <a:ln w="0">
            <a:noFill/>
            <a:prstDash val="solid"/>
          </a:ln>
        </p:spPr>
        <p:txBody>
          <a:bodyPr/>
          <a:lstStyle/>
          <a:p>
            <a:pPr algn="l">
              <a:defRPr sz="1650" b="1">
                <a:solidFill>
                  <a:srgbClr val="111111"/>
                </a:solidFill>
              </a:defRPr>
            </a:pPr>
            <a:r>
              <a:rPr sz="1650" b="1">
                <a:solidFill>
                  <a:srgbClr val="111111"/>
                </a:solidFill>
              </a:rPr>
              <a:t>Testing</a:t>
            </a:r>
          </a:p>
        </p:txBody>
      </p:sp>
      <p:sp>
        <p:nvSpPr>
          <p:cNvPr id="17" name="Rectangle 16">
            <a:extLst>
              <a:ext uri="{FF2B5EF4-FFF2-40B4-BE49-F238E27FC236}">
                <a16:creationId xmlns:a16="http://schemas.microsoft.com/office/drawing/2014/main" id="{965C5E29-5D41-49C8-8999-A1AB53C0691A}"/>
              </a:ext>
            </a:extLst>
          </p:cNvPr>
          <p:cNvSpPr>
            <a:spLocks noGrp="1"/>
          </p:cNvSpPr>
          <p:nvPr/>
        </p:nvSpPr>
        <p:spPr>
          <a:xfrm>
            <a:off x="3524250" y="4457700"/>
            <a:ext cx="7239000" cy="304800"/>
          </a:xfrm>
          <a:prstGeom prst="rect">
            <a:avLst/>
          </a:prstGeom>
          <a:noFill/>
          <a:ln w="0">
            <a:noFill/>
            <a:prstDash val="solid"/>
          </a:ln>
        </p:spPr>
        <p:txBody>
          <a:bodyPr/>
          <a:lstStyle/>
          <a:p>
            <a:pPr algn="l">
              <a:defRPr sz="1575" b="0">
                <a:solidFill>
                  <a:srgbClr val="5F6268"/>
                </a:solidFill>
              </a:defRPr>
            </a:pPr>
            <a:r>
              <a:rPr sz="1575" b="0">
                <a:solidFill>
                  <a:srgbClr val="5F6268"/>
                </a:solidFill>
              </a:rPr>
              <a:t>xUnit tests for services, constants, middleware, and helpers</a:t>
            </a:r>
          </a:p>
        </p:txBody>
      </p:sp>
      <p:sp>
        <p:nvSpPr>
          <p:cNvPr id="18" name="Rectangle 17">
            <a:extLst>
              <a:ext uri="{FF2B5EF4-FFF2-40B4-BE49-F238E27FC236}">
                <a16:creationId xmlns:a16="http://schemas.microsoft.com/office/drawing/2014/main" id="{F3343442-64C5-477B-BC43-797CE6F3A314}"/>
              </a:ext>
            </a:extLst>
          </p:cNvPr>
          <p:cNvSpPr>
            <a:spLocks noGrp="1"/>
          </p:cNvSpPr>
          <p:nvPr/>
        </p:nvSpPr>
        <p:spPr>
          <a:xfrm>
            <a:off x="819150" y="4876800"/>
            <a:ext cx="9906000" cy="9525"/>
          </a:xfrm>
          <a:prstGeom prst="rect">
            <a:avLst/>
          </a:prstGeom>
          <a:solidFill>
            <a:srgbClr val="B9BDC4"/>
          </a:solidFill>
          <a:ln w="0">
            <a:solidFill>
              <a:srgbClr val="B9BDC4"/>
            </a:solidFill>
            <a:prstDash val="solid"/>
          </a:ln>
        </p:spPr>
        <p:txBody>
          <a:bodyPr/>
          <a:lstStyle/>
          <a:p>
            <a:endParaRPr lang="en-PH"/>
          </a:p>
        </p:txBody>
      </p:sp>
      <p:sp>
        <p:nvSpPr>
          <p:cNvPr id="19" name="Rectangle 18">
            <a:extLst>
              <a:ext uri="{FF2B5EF4-FFF2-40B4-BE49-F238E27FC236}">
                <a16:creationId xmlns:a16="http://schemas.microsoft.com/office/drawing/2014/main" id="{B1AE4CF9-317A-4234-B2BF-94787ECC11C9}"/>
              </a:ext>
            </a:extLst>
          </p:cNvPr>
          <p:cNvSpPr>
            <a:spLocks noGrp="1"/>
          </p:cNvSpPr>
          <p:nvPr/>
        </p:nvSpPr>
        <p:spPr>
          <a:xfrm>
            <a:off x="819150" y="5048250"/>
            <a:ext cx="2667000" cy="304800"/>
          </a:xfrm>
          <a:prstGeom prst="rect">
            <a:avLst/>
          </a:prstGeom>
          <a:noFill/>
          <a:ln w="0">
            <a:noFill/>
            <a:prstDash val="solid"/>
          </a:ln>
        </p:spPr>
        <p:txBody>
          <a:bodyPr/>
          <a:lstStyle/>
          <a:p>
            <a:pPr algn="l">
              <a:defRPr sz="1650" b="1">
                <a:solidFill>
                  <a:srgbClr val="FF6B2C"/>
                </a:solidFill>
              </a:defRPr>
            </a:pPr>
            <a:r>
              <a:rPr sz="1650" b="1">
                <a:solidFill>
                  <a:srgbClr val="FF6B2C"/>
                </a:solidFill>
              </a:rPr>
              <a:t>Prepared Integrations</a:t>
            </a:r>
          </a:p>
        </p:txBody>
      </p:sp>
      <p:sp>
        <p:nvSpPr>
          <p:cNvPr id="20" name="Rectangle 19">
            <a:extLst>
              <a:ext uri="{FF2B5EF4-FFF2-40B4-BE49-F238E27FC236}">
                <a16:creationId xmlns:a16="http://schemas.microsoft.com/office/drawing/2014/main" id="{2A061ED2-63B4-4154-9FDF-2A72737B5DAB}"/>
              </a:ext>
            </a:extLst>
          </p:cNvPr>
          <p:cNvSpPr>
            <a:spLocks noGrp="1"/>
          </p:cNvSpPr>
          <p:nvPr/>
        </p:nvSpPr>
        <p:spPr>
          <a:xfrm>
            <a:off x="3524250" y="5048250"/>
            <a:ext cx="7239000" cy="304800"/>
          </a:xfrm>
          <a:prstGeom prst="rect">
            <a:avLst/>
          </a:prstGeom>
          <a:noFill/>
          <a:ln w="0">
            <a:noFill/>
            <a:prstDash val="solid"/>
          </a:ln>
        </p:spPr>
        <p:txBody>
          <a:bodyPr/>
          <a:lstStyle/>
          <a:p>
            <a:pPr algn="l">
              <a:defRPr sz="1575" b="0">
                <a:solidFill>
                  <a:srgbClr val="5F6268"/>
                </a:solidFill>
              </a:defRPr>
            </a:pPr>
            <a:r>
              <a:rPr sz="1575" b="0">
                <a:solidFill>
                  <a:srgbClr val="5F6268"/>
                </a:solidFill>
              </a:rPr>
              <a:t>PayMongo, Google OAuth, email/OTP, Firebase, file storage</a:t>
            </a:r>
          </a:p>
        </p:txBody>
      </p:sp>
      <p:sp>
        <p:nvSpPr>
          <p:cNvPr id="21" name="Rectangle 20">
            <a:extLst>
              <a:ext uri="{FF2B5EF4-FFF2-40B4-BE49-F238E27FC236}">
                <a16:creationId xmlns:a16="http://schemas.microsoft.com/office/drawing/2014/main" id="{624DAC52-D6B5-4E34-9615-848BF0C11ECC}"/>
              </a:ext>
            </a:extLst>
          </p:cNvPr>
          <p:cNvSpPr>
            <a:spLocks noGrp="1"/>
          </p:cNvSpPr>
          <p:nvPr/>
        </p:nvSpPr>
        <p:spPr>
          <a:xfrm>
            <a:off x="819150" y="5467350"/>
            <a:ext cx="9906000" cy="9525"/>
          </a:xfrm>
          <a:prstGeom prst="rect">
            <a:avLst/>
          </a:prstGeom>
          <a:solidFill>
            <a:srgbClr val="B9BDC4"/>
          </a:solidFill>
          <a:ln w="0">
            <a:solidFill>
              <a:srgbClr val="B9BDC4"/>
            </a:solidFill>
            <a:prstDash val="solid"/>
          </a:ln>
        </p:spPr>
        <p:txBody>
          <a:bodyPr/>
          <a:lstStyle/>
          <a:p>
            <a:endParaRPr lang="en-PH"/>
          </a:p>
        </p:txBody>
      </p:sp>
      <p:sp>
        <p:nvSpPr>
          <p:cNvPr id="22" name="Rectangle 21">
            <a:extLst>
              <a:ext uri="{FF2B5EF4-FFF2-40B4-BE49-F238E27FC236}">
                <a16:creationId xmlns:a16="http://schemas.microsoft.com/office/drawing/2014/main" id="{5DC2E8A3-73E0-41E2-8781-CDB8380C9215}"/>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23" name="Rectangle 22">
            <a:extLst>
              <a:ext uri="{FF2B5EF4-FFF2-40B4-BE49-F238E27FC236}">
                <a16:creationId xmlns:a16="http://schemas.microsoft.com/office/drawing/2014/main" id="{A5B7E21D-AB7C-45A7-A232-044DE856B475}"/>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07</a:t>
            </a:r>
          </a:p>
        </p:txBody>
      </p:sp>
    </p:spTree>
    <p:extLst>
      <p:ext uri="{BB962C8B-B14F-4D97-AF65-F5344CB8AC3E}">
        <p14:creationId xmlns:p14="http://schemas.microsoft.com/office/powerpoint/2010/main" val="1615526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6DB016D-4C6F-473D-B25E-CB1134B86A20}"/>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7E05E391-A8FA-455E-99B2-B1BC69CC5F8E}"/>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Four roles define the system behavior and access boundaries.</a:t>
            </a:r>
          </a:p>
        </p:txBody>
      </p:sp>
      <p:sp>
        <p:nvSpPr>
          <p:cNvPr id="3" name="Rectangle 2">
            <a:extLst>
              <a:ext uri="{FF2B5EF4-FFF2-40B4-BE49-F238E27FC236}">
                <a16:creationId xmlns:a16="http://schemas.microsoft.com/office/drawing/2014/main" id="{8B291A21-0C17-4D50-8A6A-ABFA7B3FF312}"/>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6871DE5D-9A92-4873-AF6B-EDFE52E11E9C}"/>
              </a:ext>
            </a:extLst>
          </p:cNvPr>
          <p:cNvSpPr>
            <a:spLocks noGrp="1"/>
          </p:cNvSpPr>
          <p:nvPr/>
        </p:nvSpPr>
        <p:spPr>
          <a:xfrm>
            <a:off x="704850" y="2228850"/>
            <a:ext cx="4762500" cy="1219200"/>
          </a:xfrm>
          <a:prstGeom prst="rect">
            <a:avLst/>
          </a:prstGeom>
          <a:solidFill>
            <a:srgbClr val="FFF1EA"/>
          </a:solidFill>
          <a:ln w="9525">
            <a:solidFill>
              <a:srgbClr val="D8DBE0"/>
            </a:solidFill>
            <a:prstDash val="solid"/>
          </a:ln>
        </p:spPr>
        <p:txBody>
          <a:bodyPr/>
          <a:lstStyle/>
          <a:p>
            <a:endParaRPr lang="en-PH"/>
          </a:p>
        </p:txBody>
      </p:sp>
      <p:sp>
        <p:nvSpPr>
          <p:cNvPr id="5" name="Rectangle 4">
            <a:extLst>
              <a:ext uri="{FF2B5EF4-FFF2-40B4-BE49-F238E27FC236}">
                <a16:creationId xmlns:a16="http://schemas.microsoft.com/office/drawing/2014/main" id="{1ABF0780-81EA-4425-9B98-7804820FB32B}"/>
              </a:ext>
            </a:extLst>
          </p:cNvPr>
          <p:cNvSpPr>
            <a:spLocks noGrp="1"/>
          </p:cNvSpPr>
          <p:nvPr/>
        </p:nvSpPr>
        <p:spPr>
          <a:xfrm>
            <a:off x="933450" y="2438400"/>
            <a:ext cx="4000500" cy="285750"/>
          </a:xfrm>
          <a:prstGeom prst="rect">
            <a:avLst/>
          </a:prstGeom>
          <a:noFill/>
          <a:ln w="0">
            <a:noFill/>
            <a:prstDash val="solid"/>
          </a:ln>
        </p:spPr>
        <p:txBody>
          <a:bodyPr/>
          <a:lstStyle/>
          <a:p>
            <a:pPr algn="l">
              <a:defRPr sz="1875" b="1">
                <a:solidFill>
                  <a:srgbClr val="111111"/>
                </a:solidFill>
              </a:defRPr>
            </a:pPr>
            <a:r>
              <a:rPr sz="1875" b="1">
                <a:solidFill>
                  <a:srgbClr val="111111"/>
                </a:solidFill>
              </a:rPr>
              <a:t>Customer</a:t>
            </a:r>
          </a:p>
        </p:txBody>
      </p:sp>
      <p:sp>
        <p:nvSpPr>
          <p:cNvPr id="6" name="Rectangle 5">
            <a:extLst>
              <a:ext uri="{FF2B5EF4-FFF2-40B4-BE49-F238E27FC236}">
                <a16:creationId xmlns:a16="http://schemas.microsoft.com/office/drawing/2014/main" id="{462FD3A0-CD2D-40D7-AD66-CCC9CF79B825}"/>
              </a:ext>
            </a:extLst>
          </p:cNvPr>
          <p:cNvSpPr>
            <a:spLocks noGrp="1"/>
          </p:cNvSpPr>
          <p:nvPr/>
        </p:nvSpPr>
        <p:spPr>
          <a:xfrm>
            <a:off x="933450" y="2819400"/>
            <a:ext cx="4095750" cy="457200"/>
          </a:xfrm>
          <a:prstGeom prst="rect">
            <a:avLst/>
          </a:prstGeom>
          <a:noFill/>
          <a:ln w="0">
            <a:noFill/>
            <a:prstDash val="solid"/>
          </a:ln>
        </p:spPr>
        <p:txBody>
          <a:bodyPr/>
          <a:lstStyle/>
          <a:p>
            <a:pPr algn="l">
              <a:defRPr sz="1350" b="0">
                <a:solidFill>
                  <a:srgbClr val="5F6268"/>
                </a:solidFill>
              </a:defRPr>
            </a:pPr>
            <a:r>
              <a:rPr sz="1350" b="0">
                <a:solidFill>
                  <a:srgbClr val="5F6268"/>
                </a:solidFill>
              </a:rPr>
              <a:t>Books repair services, tracks jobs, chats, pays, reviews, and requests emergency support.</a:t>
            </a:r>
          </a:p>
        </p:txBody>
      </p:sp>
      <p:sp>
        <p:nvSpPr>
          <p:cNvPr id="7" name="Rectangle 6">
            <a:extLst>
              <a:ext uri="{FF2B5EF4-FFF2-40B4-BE49-F238E27FC236}">
                <a16:creationId xmlns:a16="http://schemas.microsoft.com/office/drawing/2014/main" id="{F4B7B358-6096-4DE3-A840-7C12847B4FFA}"/>
              </a:ext>
            </a:extLst>
          </p:cNvPr>
          <p:cNvSpPr>
            <a:spLocks noGrp="1"/>
          </p:cNvSpPr>
          <p:nvPr/>
        </p:nvSpPr>
        <p:spPr>
          <a:xfrm>
            <a:off x="6057900" y="2228850"/>
            <a:ext cx="4762500" cy="1219200"/>
          </a:xfrm>
          <a:prstGeom prst="rect">
            <a:avLst/>
          </a:prstGeom>
          <a:solidFill>
            <a:srgbClr val="FAFAFA"/>
          </a:solidFill>
          <a:ln w="9525">
            <a:solidFill>
              <a:srgbClr val="D8DBE0"/>
            </a:solidFill>
            <a:prstDash val="solid"/>
          </a:ln>
        </p:spPr>
        <p:txBody>
          <a:bodyPr/>
          <a:lstStyle/>
          <a:p>
            <a:endParaRPr lang="en-PH"/>
          </a:p>
        </p:txBody>
      </p:sp>
      <p:sp>
        <p:nvSpPr>
          <p:cNvPr id="8" name="Rectangle 7">
            <a:extLst>
              <a:ext uri="{FF2B5EF4-FFF2-40B4-BE49-F238E27FC236}">
                <a16:creationId xmlns:a16="http://schemas.microsoft.com/office/drawing/2014/main" id="{66721A72-31B4-43DD-8A54-B31D196AA181}"/>
              </a:ext>
            </a:extLst>
          </p:cNvPr>
          <p:cNvSpPr>
            <a:spLocks noGrp="1"/>
          </p:cNvSpPr>
          <p:nvPr/>
        </p:nvSpPr>
        <p:spPr>
          <a:xfrm>
            <a:off x="6286500" y="2438400"/>
            <a:ext cx="4000500" cy="285750"/>
          </a:xfrm>
          <a:prstGeom prst="rect">
            <a:avLst/>
          </a:prstGeom>
          <a:noFill/>
          <a:ln w="0">
            <a:noFill/>
            <a:prstDash val="solid"/>
          </a:ln>
        </p:spPr>
        <p:txBody>
          <a:bodyPr/>
          <a:lstStyle/>
          <a:p>
            <a:pPr algn="l">
              <a:defRPr sz="1875" b="1">
                <a:solidFill>
                  <a:srgbClr val="111111"/>
                </a:solidFill>
              </a:defRPr>
            </a:pPr>
            <a:r>
              <a:rPr sz="1875" b="1">
                <a:solidFill>
                  <a:srgbClr val="111111"/>
                </a:solidFill>
              </a:rPr>
              <a:t>Mechanic / Rider</a:t>
            </a:r>
          </a:p>
        </p:txBody>
      </p:sp>
      <p:sp>
        <p:nvSpPr>
          <p:cNvPr id="9" name="Rectangle 8">
            <a:extLst>
              <a:ext uri="{FF2B5EF4-FFF2-40B4-BE49-F238E27FC236}">
                <a16:creationId xmlns:a16="http://schemas.microsoft.com/office/drawing/2014/main" id="{F0910501-4AB2-427E-9E58-87E16AD8DA56}"/>
              </a:ext>
            </a:extLst>
          </p:cNvPr>
          <p:cNvSpPr>
            <a:spLocks noGrp="1"/>
          </p:cNvSpPr>
          <p:nvPr/>
        </p:nvSpPr>
        <p:spPr>
          <a:xfrm>
            <a:off x="6286500" y="2819400"/>
            <a:ext cx="4095750" cy="457200"/>
          </a:xfrm>
          <a:prstGeom prst="rect">
            <a:avLst/>
          </a:prstGeom>
          <a:noFill/>
          <a:ln w="0">
            <a:noFill/>
            <a:prstDash val="solid"/>
          </a:ln>
        </p:spPr>
        <p:txBody>
          <a:bodyPr/>
          <a:lstStyle/>
          <a:p>
            <a:pPr algn="l">
              <a:defRPr sz="1350" b="0">
                <a:solidFill>
                  <a:srgbClr val="5F6268"/>
                </a:solidFill>
              </a:defRPr>
            </a:pPr>
            <a:r>
              <a:rPr sz="1350" b="0">
                <a:solidFill>
                  <a:srgbClr val="5F6268"/>
                </a:solidFill>
              </a:rPr>
              <a:t>Receives assigned work, accepts or rejects jobs, updates progress, shares location, and views ratings.</a:t>
            </a:r>
          </a:p>
        </p:txBody>
      </p:sp>
      <p:sp>
        <p:nvSpPr>
          <p:cNvPr id="10" name="Rectangle 9">
            <a:extLst>
              <a:ext uri="{FF2B5EF4-FFF2-40B4-BE49-F238E27FC236}">
                <a16:creationId xmlns:a16="http://schemas.microsoft.com/office/drawing/2014/main" id="{0EF1FBAE-5E2B-4BD3-A461-DA5A02B96423}"/>
              </a:ext>
            </a:extLst>
          </p:cNvPr>
          <p:cNvSpPr>
            <a:spLocks noGrp="1"/>
          </p:cNvSpPr>
          <p:nvPr/>
        </p:nvSpPr>
        <p:spPr>
          <a:xfrm>
            <a:off x="704850" y="3905250"/>
            <a:ext cx="4762500" cy="1219200"/>
          </a:xfrm>
          <a:prstGeom prst="rect">
            <a:avLst/>
          </a:prstGeom>
          <a:solidFill>
            <a:srgbClr val="FAFAFA"/>
          </a:solidFill>
          <a:ln w="9525">
            <a:solidFill>
              <a:srgbClr val="D8DBE0"/>
            </a:solidFill>
            <a:prstDash val="solid"/>
          </a:ln>
        </p:spPr>
        <p:txBody>
          <a:bodyPr/>
          <a:lstStyle/>
          <a:p>
            <a:endParaRPr lang="en-PH"/>
          </a:p>
        </p:txBody>
      </p:sp>
      <p:sp>
        <p:nvSpPr>
          <p:cNvPr id="11" name="Rectangle 10">
            <a:extLst>
              <a:ext uri="{FF2B5EF4-FFF2-40B4-BE49-F238E27FC236}">
                <a16:creationId xmlns:a16="http://schemas.microsoft.com/office/drawing/2014/main" id="{A226E904-9B39-43FB-94C7-FBDAD0F19EF9}"/>
              </a:ext>
            </a:extLst>
          </p:cNvPr>
          <p:cNvSpPr>
            <a:spLocks noGrp="1"/>
          </p:cNvSpPr>
          <p:nvPr/>
        </p:nvSpPr>
        <p:spPr>
          <a:xfrm>
            <a:off x="933450" y="4114800"/>
            <a:ext cx="4000500" cy="285750"/>
          </a:xfrm>
          <a:prstGeom prst="rect">
            <a:avLst/>
          </a:prstGeom>
          <a:noFill/>
          <a:ln w="0">
            <a:noFill/>
            <a:prstDash val="solid"/>
          </a:ln>
        </p:spPr>
        <p:txBody>
          <a:bodyPr/>
          <a:lstStyle/>
          <a:p>
            <a:pPr algn="l">
              <a:defRPr sz="1875" b="1">
                <a:solidFill>
                  <a:srgbClr val="111111"/>
                </a:solidFill>
              </a:defRPr>
            </a:pPr>
            <a:r>
              <a:rPr sz="1875" b="1">
                <a:solidFill>
                  <a:srgbClr val="111111"/>
                </a:solidFill>
              </a:rPr>
              <a:t>Shop Admin</a:t>
            </a:r>
          </a:p>
        </p:txBody>
      </p:sp>
      <p:sp>
        <p:nvSpPr>
          <p:cNvPr id="12" name="Rectangle 11">
            <a:extLst>
              <a:ext uri="{FF2B5EF4-FFF2-40B4-BE49-F238E27FC236}">
                <a16:creationId xmlns:a16="http://schemas.microsoft.com/office/drawing/2014/main" id="{DB40991C-8076-40AC-8675-B8846C9903D6}"/>
              </a:ext>
            </a:extLst>
          </p:cNvPr>
          <p:cNvSpPr>
            <a:spLocks noGrp="1"/>
          </p:cNvSpPr>
          <p:nvPr/>
        </p:nvSpPr>
        <p:spPr>
          <a:xfrm>
            <a:off x="933450" y="4495800"/>
            <a:ext cx="4095750" cy="457200"/>
          </a:xfrm>
          <a:prstGeom prst="rect">
            <a:avLst/>
          </a:prstGeom>
          <a:noFill/>
          <a:ln w="0">
            <a:noFill/>
            <a:prstDash val="solid"/>
          </a:ln>
        </p:spPr>
        <p:txBody>
          <a:bodyPr/>
          <a:lstStyle/>
          <a:p>
            <a:pPr algn="l">
              <a:defRPr sz="1350" b="0">
                <a:solidFill>
                  <a:srgbClr val="5F6268"/>
                </a:solidFill>
              </a:defRPr>
            </a:pPr>
            <a:r>
              <a:rPr sz="1350" b="0">
                <a:solidFill>
                  <a:srgbClr val="5F6268"/>
                </a:solidFill>
              </a:rPr>
              <a:t>Submits shop application, manages profile, services, products, bookings, mechanics, messages, and reports.</a:t>
            </a:r>
          </a:p>
        </p:txBody>
      </p:sp>
      <p:sp>
        <p:nvSpPr>
          <p:cNvPr id="13" name="Rectangle 12">
            <a:extLst>
              <a:ext uri="{FF2B5EF4-FFF2-40B4-BE49-F238E27FC236}">
                <a16:creationId xmlns:a16="http://schemas.microsoft.com/office/drawing/2014/main" id="{4E3BDA50-C494-4BD9-8018-D4440C6FAC81}"/>
              </a:ext>
            </a:extLst>
          </p:cNvPr>
          <p:cNvSpPr>
            <a:spLocks noGrp="1"/>
          </p:cNvSpPr>
          <p:nvPr/>
        </p:nvSpPr>
        <p:spPr>
          <a:xfrm>
            <a:off x="6057900" y="3905250"/>
            <a:ext cx="4762500" cy="1219200"/>
          </a:xfrm>
          <a:prstGeom prst="rect">
            <a:avLst/>
          </a:prstGeom>
          <a:solidFill>
            <a:srgbClr val="FAFAFA"/>
          </a:solidFill>
          <a:ln w="9525">
            <a:solidFill>
              <a:srgbClr val="D8DBE0"/>
            </a:solidFill>
            <a:prstDash val="solid"/>
          </a:ln>
        </p:spPr>
        <p:txBody>
          <a:bodyPr/>
          <a:lstStyle/>
          <a:p>
            <a:endParaRPr lang="en-PH"/>
          </a:p>
        </p:txBody>
      </p:sp>
      <p:sp>
        <p:nvSpPr>
          <p:cNvPr id="14" name="Rectangle 13">
            <a:extLst>
              <a:ext uri="{FF2B5EF4-FFF2-40B4-BE49-F238E27FC236}">
                <a16:creationId xmlns:a16="http://schemas.microsoft.com/office/drawing/2014/main" id="{F2805561-E14B-4A8B-B9A2-D812D7C7A37E}"/>
              </a:ext>
            </a:extLst>
          </p:cNvPr>
          <p:cNvSpPr>
            <a:spLocks noGrp="1"/>
          </p:cNvSpPr>
          <p:nvPr/>
        </p:nvSpPr>
        <p:spPr>
          <a:xfrm>
            <a:off x="6286500" y="4114800"/>
            <a:ext cx="4000500" cy="285750"/>
          </a:xfrm>
          <a:prstGeom prst="rect">
            <a:avLst/>
          </a:prstGeom>
          <a:noFill/>
          <a:ln w="0">
            <a:noFill/>
            <a:prstDash val="solid"/>
          </a:ln>
        </p:spPr>
        <p:txBody>
          <a:bodyPr/>
          <a:lstStyle/>
          <a:p>
            <a:pPr algn="l">
              <a:defRPr sz="1875" b="1">
                <a:solidFill>
                  <a:srgbClr val="111111"/>
                </a:solidFill>
              </a:defRPr>
            </a:pPr>
            <a:r>
              <a:rPr sz="1875" b="1">
                <a:solidFill>
                  <a:srgbClr val="111111"/>
                </a:solidFill>
              </a:rPr>
              <a:t>System Admin</a:t>
            </a:r>
          </a:p>
        </p:txBody>
      </p:sp>
      <p:sp>
        <p:nvSpPr>
          <p:cNvPr id="15" name="Rectangle 14">
            <a:extLst>
              <a:ext uri="{FF2B5EF4-FFF2-40B4-BE49-F238E27FC236}">
                <a16:creationId xmlns:a16="http://schemas.microsoft.com/office/drawing/2014/main" id="{5AA22F7F-B027-41D6-BC48-91DA6E001CA1}"/>
              </a:ext>
            </a:extLst>
          </p:cNvPr>
          <p:cNvSpPr>
            <a:spLocks noGrp="1"/>
          </p:cNvSpPr>
          <p:nvPr/>
        </p:nvSpPr>
        <p:spPr>
          <a:xfrm>
            <a:off x="6286500" y="4495800"/>
            <a:ext cx="4095750" cy="457200"/>
          </a:xfrm>
          <a:prstGeom prst="rect">
            <a:avLst/>
          </a:prstGeom>
          <a:noFill/>
          <a:ln w="0">
            <a:noFill/>
            <a:prstDash val="solid"/>
          </a:ln>
        </p:spPr>
        <p:txBody>
          <a:bodyPr/>
          <a:lstStyle/>
          <a:p>
            <a:pPr algn="l">
              <a:defRPr sz="1350" b="0">
                <a:solidFill>
                  <a:srgbClr val="5F6268"/>
                </a:solidFill>
              </a:defRPr>
            </a:pPr>
            <a:r>
              <a:rPr sz="1350" b="0">
                <a:solidFill>
                  <a:srgbClr val="5F6268"/>
                </a:solidFill>
              </a:rPr>
              <a:t>Approves accounts, monitors requests, manages users, shops, mechanics, payments, and emergency queues.</a:t>
            </a:r>
          </a:p>
        </p:txBody>
      </p:sp>
      <p:sp>
        <p:nvSpPr>
          <p:cNvPr id="16" name="Rectangle 15">
            <a:extLst>
              <a:ext uri="{FF2B5EF4-FFF2-40B4-BE49-F238E27FC236}">
                <a16:creationId xmlns:a16="http://schemas.microsoft.com/office/drawing/2014/main" id="{43F85CD1-484E-49DF-B76B-B57B0850F062}"/>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17" name="Rectangle 16">
            <a:extLst>
              <a:ext uri="{FF2B5EF4-FFF2-40B4-BE49-F238E27FC236}">
                <a16:creationId xmlns:a16="http://schemas.microsoft.com/office/drawing/2014/main" id="{97AB1FDE-5255-402B-8F16-0D2F3323FB81}"/>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08</a:t>
            </a:r>
          </a:p>
        </p:txBody>
      </p:sp>
    </p:spTree>
    <p:extLst>
      <p:ext uri="{BB962C8B-B14F-4D97-AF65-F5344CB8AC3E}">
        <p14:creationId xmlns:p14="http://schemas.microsoft.com/office/powerpoint/2010/main" val="550855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4907CF-C94C-40D5-A7FE-95B47F998CB9}"/>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7CD38C74-BB1F-4B7A-8079-A5244B1C0B92}"/>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customer flow moves from discovery to booking, tracking, and payment.</a:t>
            </a:r>
          </a:p>
        </p:txBody>
      </p:sp>
      <p:sp>
        <p:nvSpPr>
          <p:cNvPr id="3" name="Rectangle 2">
            <a:extLst>
              <a:ext uri="{FF2B5EF4-FFF2-40B4-BE49-F238E27FC236}">
                <a16:creationId xmlns:a16="http://schemas.microsoft.com/office/drawing/2014/main" id="{2C97B7D1-3FA5-422F-861F-A641953A00EE}"/>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pic>
        <p:nvPicPr>
          <p:cNvPr id="16" name="Picture 15"/>
          <p:cNvPicPr>
            <a:picLocks noChangeAspect="1"/>
          </p:cNvPicPr>
          <p:nvPr/>
        </p:nvPicPr>
        <p:blipFill>
          <a:blip r:embed="rId3"/>
          <a:stretch/>
        </p:blipFill>
        <p:spPr>
          <a:xfrm>
            <a:off x="1300163" y="2076450"/>
            <a:ext cx="1628775" cy="3619500"/>
          </a:xfrm>
          <a:prstGeom prst="rect">
            <a:avLst/>
          </a:prstGeom>
        </p:spPr>
      </p:pic>
      <p:pic>
        <p:nvPicPr>
          <p:cNvPr id="17" name="Picture 16"/>
          <p:cNvPicPr>
            <a:picLocks noChangeAspect="1"/>
          </p:cNvPicPr>
          <p:nvPr/>
        </p:nvPicPr>
        <p:blipFill>
          <a:blip r:embed="rId4"/>
          <a:stretch/>
        </p:blipFill>
        <p:spPr>
          <a:xfrm>
            <a:off x="4176713" y="2076450"/>
            <a:ext cx="1628775" cy="3619500"/>
          </a:xfrm>
          <a:prstGeom prst="rect">
            <a:avLst/>
          </a:prstGeom>
        </p:spPr>
      </p:pic>
      <p:pic>
        <p:nvPicPr>
          <p:cNvPr id="18" name="Picture 17"/>
          <p:cNvPicPr>
            <a:picLocks noChangeAspect="1"/>
          </p:cNvPicPr>
          <p:nvPr/>
        </p:nvPicPr>
        <p:blipFill>
          <a:blip r:embed="rId5"/>
          <a:stretch/>
        </p:blipFill>
        <p:spPr>
          <a:xfrm>
            <a:off x="7053263" y="2076450"/>
            <a:ext cx="1628775" cy="3619500"/>
          </a:xfrm>
          <a:prstGeom prst="rect">
            <a:avLst/>
          </a:prstGeom>
        </p:spPr>
      </p:pic>
      <p:sp>
        <p:nvSpPr>
          <p:cNvPr id="7" name="Rectangle 6">
            <a:extLst>
              <a:ext uri="{FF2B5EF4-FFF2-40B4-BE49-F238E27FC236}">
                <a16:creationId xmlns:a16="http://schemas.microsoft.com/office/drawing/2014/main" id="{AF28259E-1873-4503-AD60-9D6FD306D9CD}"/>
              </a:ext>
            </a:extLst>
          </p:cNvPr>
          <p:cNvSpPr>
            <a:spLocks noGrp="1"/>
          </p:cNvSpPr>
          <p:nvPr/>
        </p:nvSpPr>
        <p:spPr>
          <a:xfrm>
            <a:off x="1257300" y="5829300"/>
            <a:ext cx="1714500" cy="247650"/>
          </a:xfrm>
          <a:prstGeom prst="rect">
            <a:avLst/>
          </a:prstGeom>
          <a:noFill/>
          <a:ln w="0">
            <a:noFill/>
            <a:prstDash val="solid"/>
          </a:ln>
        </p:spPr>
        <p:txBody>
          <a:bodyPr/>
          <a:lstStyle/>
          <a:p>
            <a:pPr algn="ctr">
              <a:defRPr sz="1425" b="1">
                <a:solidFill>
                  <a:srgbClr val="111111"/>
                </a:solidFill>
              </a:defRPr>
            </a:pPr>
            <a:r>
              <a:rPr sz="1425" b="1">
                <a:solidFill>
                  <a:srgbClr val="111111"/>
                </a:solidFill>
              </a:rPr>
              <a:t>Home</a:t>
            </a:r>
          </a:p>
        </p:txBody>
      </p:sp>
      <p:sp>
        <p:nvSpPr>
          <p:cNvPr id="8" name="Rectangle 7">
            <a:extLst>
              <a:ext uri="{FF2B5EF4-FFF2-40B4-BE49-F238E27FC236}">
                <a16:creationId xmlns:a16="http://schemas.microsoft.com/office/drawing/2014/main" id="{7AFFA971-6FD3-453C-9C27-7DF20585ABF8}"/>
              </a:ext>
            </a:extLst>
          </p:cNvPr>
          <p:cNvSpPr>
            <a:spLocks noGrp="1"/>
          </p:cNvSpPr>
          <p:nvPr/>
        </p:nvSpPr>
        <p:spPr>
          <a:xfrm>
            <a:off x="4133850" y="5829300"/>
            <a:ext cx="1714500" cy="247650"/>
          </a:xfrm>
          <a:prstGeom prst="rect">
            <a:avLst/>
          </a:prstGeom>
          <a:noFill/>
          <a:ln w="0">
            <a:noFill/>
            <a:prstDash val="solid"/>
          </a:ln>
        </p:spPr>
        <p:txBody>
          <a:bodyPr/>
          <a:lstStyle/>
          <a:p>
            <a:pPr algn="ctr">
              <a:defRPr sz="1425" b="1">
                <a:solidFill>
                  <a:srgbClr val="111111"/>
                </a:solidFill>
              </a:defRPr>
            </a:pPr>
            <a:r>
              <a:rPr sz="1425" b="1">
                <a:solidFill>
                  <a:srgbClr val="111111"/>
                </a:solidFill>
              </a:rPr>
              <a:t>Booking</a:t>
            </a:r>
          </a:p>
        </p:txBody>
      </p:sp>
      <p:sp>
        <p:nvSpPr>
          <p:cNvPr id="9" name="Rectangle 8">
            <a:extLst>
              <a:ext uri="{FF2B5EF4-FFF2-40B4-BE49-F238E27FC236}">
                <a16:creationId xmlns:a16="http://schemas.microsoft.com/office/drawing/2014/main" id="{108E27B2-33C3-4E3B-A19F-B31862E24EA7}"/>
              </a:ext>
            </a:extLst>
          </p:cNvPr>
          <p:cNvSpPr>
            <a:spLocks noGrp="1"/>
          </p:cNvSpPr>
          <p:nvPr/>
        </p:nvSpPr>
        <p:spPr>
          <a:xfrm>
            <a:off x="7010400" y="5829300"/>
            <a:ext cx="1714500" cy="247650"/>
          </a:xfrm>
          <a:prstGeom prst="rect">
            <a:avLst/>
          </a:prstGeom>
          <a:noFill/>
          <a:ln w="0">
            <a:noFill/>
            <a:prstDash val="solid"/>
          </a:ln>
        </p:spPr>
        <p:txBody>
          <a:bodyPr/>
          <a:lstStyle/>
          <a:p>
            <a:pPr algn="ctr">
              <a:defRPr sz="1425" b="1">
                <a:solidFill>
                  <a:srgbClr val="111111"/>
                </a:solidFill>
              </a:defRPr>
            </a:pPr>
            <a:r>
              <a:rPr sz="1425" b="1">
                <a:solidFill>
                  <a:srgbClr val="111111"/>
                </a:solidFill>
              </a:rPr>
              <a:t>Payment</a:t>
            </a:r>
          </a:p>
        </p:txBody>
      </p:sp>
      <p:sp>
        <p:nvSpPr>
          <p:cNvPr id="10" name="Rectangle 9">
            <a:extLst>
              <a:ext uri="{FF2B5EF4-FFF2-40B4-BE49-F238E27FC236}">
                <a16:creationId xmlns:a16="http://schemas.microsoft.com/office/drawing/2014/main" id="{895FB38B-25F4-4627-A1C2-06F7F2D0FA85}"/>
              </a:ext>
            </a:extLst>
          </p:cNvPr>
          <p:cNvSpPr>
            <a:spLocks noGrp="1"/>
          </p:cNvSpPr>
          <p:nvPr/>
        </p:nvSpPr>
        <p:spPr>
          <a:xfrm>
            <a:off x="9353550" y="2400300"/>
            <a:ext cx="1905000" cy="2381250"/>
          </a:xfrm>
          <a:prstGeom prst="rect">
            <a:avLst/>
          </a:prstGeom>
          <a:noFill/>
          <a:ln w="0">
            <a:noFill/>
            <a:prstDash val="solid"/>
          </a:ln>
        </p:spPr>
        <p:txBody>
          <a:bodyPr/>
          <a:lstStyle/>
          <a:p>
            <a:pPr algn="l">
              <a:defRPr sz="1650" b="0">
                <a:solidFill>
                  <a:srgbClr val="111111"/>
                </a:solidFill>
              </a:defRPr>
            </a:pPr>
            <a:r>
              <a:rPr sz="1650" b="0">
                <a:solidFill>
                  <a:srgbClr val="111111"/>
                </a:solidFill>
              </a:rPr>
              <a:t>Users can view services, create a repair request, schedule work, track status, and manage payment records.</a:t>
            </a:r>
          </a:p>
        </p:txBody>
      </p:sp>
      <p:sp>
        <p:nvSpPr>
          <p:cNvPr id="11" name="Rectangle 10">
            <a:extLst>
              <a:ext uri="{FF2B5EF4-FFF2-40B4-BE49-F238E27FC236}">
                <a16:creationId xmlns:a16="http://schemas.microsoft.com/office/drawing/2014/main" id="{EEBAFC52-AE08-4B0B-A464-3093A6140257}"/>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12" name="Rectangle 11">
            <a:extLst>
              <a:ext uri="{FF2B5EF4-FFF2-40B4-BE49-F238E27FC236}">
                <a16:creationId xmlns:a16="http://schemas.microsoft.com/office/drawing/2014/main" id="{524DF148-CACC-47E1-8EC1-F7AFEACDE8AD}"/>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09</a:t>
            </a:r>
          </a:p>
        </p:txBody>
      </p:sp>
    </p:spTree>
    <p:extLst>
      <p:ext uri="{BB962C8B-B14F-4D97-AF65-F5344CB8AC3E}">
        <p14:creationId xmlns:p14="http://schemas.microsoft.com/office/powerpoint/2010/main" val="355419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928861-6651-4916-96AF-141B92ECB172}"/>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25CC5084-1DCA-4976-A5E5-120750B8AB6A}"/>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Communication and emergency support make the service workflow responsive.</a:t>
            </a:r>
          </a:p>
        </p:txBody>
      </p:sp>
      <p:sp>
        <p:nvSpPr>
          <p:cNvPr id="3" name="Rectangle 2">
            <a:extLst>
              <a:ext uri="{FF2B5EF4-FFF2-40B4-BE49-F238E27FC236}">
                <a16:creationId xmlns:a16="http://schemas.microsoft.com/office/drawing/2014/main" id="{2FB4D81A-17DA-40BD-A67A-BC90011FDB89}"/>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pic>
        <p:nvPicPr>
          <p:cNvPr id="21" name="Picture 20"/>
          <p:cNvPicPr>
            <a:picLocks noChangeAspect="1"/>
          </p:cNvPicPr>
          <p:nvPr/>
        </p:nvPicPr>
        <p:blipFill>
          <a:blip r:embed="rId3"/>
          <a:stretch/>
        </p:blipFill>
        <p:spPr>
          <a:xfrm>
            <a:off x="1212533" y="2095500"/>
            <a:ext cx="1594485" cy="3543300"/>
          </a:xfrm>
          <a:prstGeom prst="rect">
            <a:avLst/>
          </a:prstGeom>
        </p:spPr>
      </p:pic>
      <p:pic>
        <p:nvPicPr>
          <p:cNvPr id="22" name="Picture 21"/>
          <p:cNvPicPr>
            <a:picLocks noChangeAspect="1"/>
          </p:cNvPicPr>
          <p:nvPr/>
        </p:nvPicPr>
        <p:blipFill>
          <a:blip r:embed="rId4"/>
          <a:stretch/>
        </p:blipFill>
        <p:spPr>
          <a:xfrm>
            <a:off x="3898583" y="2095500"/>
            <a:ext cx="1594485" cy="3543300"/>
          </a:xfrm>
          <a:prstGeom prst="rect">
            <a:avLst/>
          </a:prstGeom>
        </p:spPr>
      </p:pic>
      <p:sp>
        <p:nvSpPr>
          <p:cNvPr id="6" name="Rectangle 5">
            <a:extLst>
              <a:ext uri="{FF2B5EF4-FFF2-40B4-BE49-F238E27FC236}">
                <a16:creationId xmlns:a16="http://schemas.microsoft.com/office/drawing/2014/main" id="{2DC84D9C-9D7D-46A4-91B5-D17A79642F3E}"/>
              </a:ext>
            </a:extLst>
          </p:cNvPr>
          <p:cNvSpPr>
            <a:spLocks noGrp="1"/>
          </p:cNvSpPr>
          <p:nvPr/>
        </p:nvSpPr>
        <p:spPr>
          <a:xfrm>
            <a:off x="6477000" y="2247900"/>
            <a:ext cx="4305300" cy="2686050"/>
          </a:xfrm>
          <a:prstGeom prst="rect">
            <a:avLst/>
          </a:prstGeom>
          <a:solidFill>
            <a:srgbClr val="FFF1EA"/>
          </a:solidFill>
          <a:ln w="9525">
            <a:solidFill>
              <a:srgbClr val="D8DBE0"/>
            </a:solidFill>
            <a:prstDash val="solid"/>
          </a:ln>
        </p:spPr>
        <p:txBody>
          <a:bodyPr/>
          <a:lstStyle/>
          <a:p>
            <a:endParaRPr lang="en-PH"/>
          </a:p>
        </p:txBody>
      </p:sp>
      <p:sp>
        <p:nvSpPr>
          <p:cNvPr id="7" name="Rectangle 6">
            <a:extLst>
              <a:ext uri="{FF2B5EF4-FFF2-40B4-BE49-F238E27FC236}">
                <a16:creationId xmlns:a16="http://schemas.microsoft.com/office/drawing/2014/main" id="{5E1BF294-506E-4FC7-BCC8-A04B635AA1CE}"/>
              </a:ext>
            </a:extLst>
          </p:cNvPr>
          <p:cNvSpPr>
            <a:spLocks noGrp="1"/>
          </p:cNvSpPr>
          <p:nvPr/>
        </p:nvSpPr>
        <p:spPr>
          <a:xfrm>
            <a:off x="6819900" y="2571750"/>
            <a:ext cx="3429000" cy="323850"/>
          </a:xfrm>
          <a:prstGeom prst="rect">
            <a:avLst/>
          </a:prstGeom>
          <a:noFill/>
          <a:ln w="0">
            <a:noFill/>
            <a:prstDash val="solid"/>
          </a:ln>
        </p:spPr>
        <p:txBody>
          <a:bodyPr/>
          <a:lstStyle/>
          <a:p>
            <a:pPr algn="l">
              <a:defRPr sz="2100" b="1">
                <a:solidFill>
                  <a:srgbClr val="111111"/>
                </a:solidFill>
              </a:defRPr>
            </a:pPr>
            <a:r>
              <a:rPr sz="2100" b="1">
                <a:solidFill>
                  <a:srgbClr val="111111"/>
                </a:solidFill>
              </a:rPr>
              <a:t>Emergency workflow</a:t>
            </a:r>
          </a:p>
        </p:txBody>
      </p:sp>
      <p:sp>
        <p:nvSpPr>
          <p:cNvPr id="8" name="Rectangle 7">
            <a:extLst>
              <a:ext uri="{FF2B5EF4-FFF2-40B4-BE49-F238E27FC236}">
                <a16:creationId xmlns:a16="http://schemas.microsoft.com/office/drawing/2014/main" id="{7777CF47-1B4F-469F-80BD-FD7BD3D60CEA}"/>
              </a:ext>
            </a:extLst>
          </p:cNvPr>
          <p:cNvSpPr>
            <a:spLocks noGrp="1"/>
          </p:cNvSpPr>
          <p:nvPr/>
        </p:nvSpPr>
        <p:spPr>
          <a:xfrm>
            <a:off x="6858000" y="3190875"/>
            <a:ext cx="76200" cy="76200"/>
          </a:xfrm>
          <a:prstGeom prst="rect">
            <a:avLst/>
          </a:prstGeom>
          <a:solidFill>
            <a:srgbClr val="FF6B2C"/>
          </a:solidFill>
          <a:ln w="0">
            <a:solidFill>
              <a:srgbClr val="FF6B2C"/>
            </a:solidFill>
            <a:prstDash val="solid"/>
          </a:ln>
        </p:spPr>
        <p:txBody>
          <a:bodyPr/>
          <a:lstStyle/>
          <a:p>
            <a:endParaRPr lang="en-PH"/>
          </a:p>
        </p:txBody>
      </p:sp>
      <p:sp>
        <p:nvSpPr>
          <p:cNvPr id="9" name="Rectangle 8">
            <a:extLst>
              <a:ext uri="{FF2B5EF4-FFF2-40B4-BE49-F238E27FC236}">
                <a16:creationId xmlns:a16="http://schemas.microsoft.com/office/drawing/2014/main" id="{C6EAF45C-82A1-4B0B-93D1-E27911AE4AC3}"/>
              </a:ext>
            </a:extLst>
          </p:cNvPr>
          <p:cNvSpPr>
            <a:spLocks noGrp="1"/>
          </p:cNvSpPr>
          <p:nvPr/>
        </p:nvSpPr>
        <p:spPr>
          <a:xfrm>
            <a:off x="7067550" y="3105150"/>
            <a:ext cx="3219450" cy="438150"/>
          </a:xfrm>
          <a:prstGeom prst="rect">
            <a:avLst/>
          </a:prstGeom>
          <a:noFill/>
          <a:ln w="0">
            <a:noFill/>
            <a:prstDash val="solid"/>
          </a:ln>
        </p:spPr>
        <p:txBody>
          <a:bodyPr/>
          <a:lstStyle/>
          <a:p>
            <a:pPr algn="l">
              <a:defRPr sz="1350" b="0">
                <a:solidFill>
                  <a:srgbClr val="111111"/>
                </a:solidFill>
              </a:defRPr>
            </a:pPr>
            <a:r>
              <a:rPr sz="1350" b="0">
                <a:solidFill>
                  <a:srgbClr val="111111"/>
                </a:solidFill>
              </a:rPr>
              <a:t>Customer sends location and emergency details.</a:t>
            </a:r>
          </a:p>
        </p:txBody>
      </p:sp>
      <p:sp>
        <p:nvSpPr>
          <p:cNvPr id="10" name="Rectangle 9">
            <a:extLst>
              <a:ext uri="{FF2B5EF4-FFF2-40B4-BE49-F238E27FC236}">
                <a16:creationId xmlns:a16="http://schemas.microsoft.com/office/drawing/2014/main" id="{E0C84E54-B141-4DDB-948A-7B763D01B08F}"/>
              </a:ext>
            </a:extLst>
          </p:cNvPr>
          <p:cNvSpPr>
            <a:spLocks noGrp="1"/>
          </p:cNvSpPr>
          <p:nvPr/>
        </p:nvSpPr>
        <p:spPr>
          <a:xfrm>
            <a:off x="6858000" y="3648075"/>
            <a:ext cx="76200" cy="76200"/>
          </a:xfrm>
          <a:prstGeom prst="rect">
            <a:avLst/>
          </a:prstGeom>
          <a:solidFill>
            <a:srgbClr val="FF6B2C"/>
          </a:solidFill>
          <a:ln w="0">
            <a:solidFill>
              <a:srgbClr val="FF6B2C"/>
            </a:solidFill>
            <a:prstDash val="solid"/>
          </a:ln>
        </p:spPr>
        <p:txBody>
          <a:bodyPr/>
          <a:lstStyle/>
          <a:p>
            <a:endParaRPr lang="en-PH"/>
          </a:p>
        </p:txBody>
      </p:sp>
      <p:sp>
        <p:nvSpPr>
          <p:cNvPr id="11" name="Rectangle 10">
            <a:extLst>
              <a:ext uri="{FF2B5EF4-FFF2-40B4-BE49-F238E27FC236}">
                <a16:creationId xmlns:a16="http://schemas.microsoft.com/office/drawing/2014/main" id="{94841EB8-48A4-484C-884D-344A33A025A8}"/>
              </a:ext>
            </a:extLst>
          </p:cNvPr>
          <p:cNvSpPr>
            <a:spLocks noGrp="1"/>
          </p:cNvSpPr>
          <p:nvPr/>
        </p:nvSpPr>
        <p:spPr>
          <a:xfrm>
            <a:off x="7067550" y="3562350"/>
            <a:ext cx="3219450" cy="438150"/>
          </a:xfrm>
          <a:prstGeom prst="rect">
            <a:avLst/>
          </a:prstGeom>
          <a:noFill/>
          <a:ln w="0">
            <a:noFill/>
            <a:prstDash val="solid"/>
          </a:ln>
        </p:spPr>
        <p:txBody>
          <a:bodyPr/>
          <a:lstStyle/>
          <a:p>
            <a:pPr algn="l">
              <a:defRPr sz="1350" b="0">
                <a:solidFill>
                  <a:srgbClr val="111111"/>
                </a:solidFill>
              </a:defRPr>
            </a:pPr>
            <a:r>
              <a:rPr sz="1350" b="0">
                <a:solidFill>
                  <a:srgbClr val="111111"/>
                </a:solidFill>
              </a:rPr>
              <a:t>Nearby responders are identified by the backend.</a:t>
            </a:r>
          </a:p>
        </p:txBody>
      </p:sp>
      <p:sp>
        <p:nvSpPr>
          <p:cNvPr id="12" name="Rectangle 11">
            <a:extLst>
              <a:ext uri="{FF2B5EF4-FFF2-40B4-BE49-F238E27FC236}">
                <a16:creationId xmlns:a16="http://schemas.microsoft.com/office/drawing/2014/main" id="{8281C9B6-4D6F-425F-A4BA-22CA30403199}"/>
              </a:ext>
            </a:extLst>
          </p:cNvPr>
          <p:cNvSpPr>
            <a:spLocks noGrp="1"/>
          </p:cNvSpPr>
          <p:nvPr/>
        </p:nvSpPr>
        <p:spPr>
          <a:xfrm>
            <a:off x="6858000" y="4105275"/>
            <a:ext cx="76200" cy="76200"/>
          </a:xfrm>
          <a:prstGeom prst="rect">
            <a:avLst/>
          </a:prstGeom>
          <a:solidFill>
            <a:srgbClr val="FF6B2C"/>
          </a:solidFill>
          <a:ln w="0">
            <a:solidFill>
              <a:srgbClr val="FF6B2C"/>
            </a:solidFill>
            <a:prstDash val="solid"/>
          </a:ln>
        </p:spPr>
        <p:txBody>
          <a:bodyPr/>
          <a:lstStyle/>
          <a:p>
            <a:endParaRPr lang="en-PH"/>
          </a:p>
        </p:txBody>
      </p:sp>
      <p:sp>
        <p:nvSpPr>
          <p:cNvPr id="13" name="Rectangle 12">
            <a:extLst>
              <a:ext uri="{FF2B5EF4-FFF2-40B4-BE49-F238E27FC236}">
                <a16:creationId xmlns:a16="http://schemas.microsoft.com/office/drawing/2014/main" id="{A39B9276-C8E2-46CE-87DF-A0A63CDBD25C}"/>
              </a:ext>
            </a:extLst>
          </p:cNvPr>
          <p:cNvSpPr>
            <a:spLocks noGrp="1"/>
          </p:cNvSpPr>
          <p:nvPr/>
        </p:nvSpPr>
        <p:spPr>
          <a:xfrm>
            <a:off x="7067550" y="4019550"/>
            <a:ext cx="3219450" cy="438150"/>
          </a:xfrm>
          <a:prstGeom prst="rect">
            <a:avLst/>
          </a:prstGeom>
          <a:noFill/>
          <a:ln w="0">
            <a:noFill/>
            <a:prstDash val="solid"/>
          </a:ln>
        </p:spPr>
        <p:txBody>
          <a:bodyPr/>
          <a:lstStyle/>
          <a:p>
            <a:pPr algn="l">
              <a:defRPr sz="1350" b="0">
                <a:solidFill>
                  <a:srgbClr val="111111"/>
                </a:solidFill>
              </a:defRPr>
            </a:pPr>
            <a:r>
              <a:rPr sz="1350" b="0">
                <a:solidFill>
                  <a:srgbClr val="111111"/>
                </a:solidFill>
              </a:rPr>
              <a:t>Mechanic or admin can monitor and accept the case.</a:t>
            </a:r>
          </a:p>
        </p:txBody>
      </p:sp>
      <p:sp>
        <p:nvSpPr>
          <p:cNvPr id="14" name="Rectangle 13">
            <a:extLst>
              <a:ext uri="{FF2B5EF4-FFF2-40B4-BE49-F238E27FC236}">
                <a16:creationId xmlns:a16="http://schemas.microsoft.com/office/drawing/2014/main" id="{1F9EBFF1-2532-4406-9B9D-6692C5263026}"/>
              </a:ext>
            </a:extLst>
          </p:cNvPr>
          <p:cNvSpPr>
            <a:spLocks noGrp="1"/>
          </p:cNvSpPr>
          <p:nvPr/>
        </p:nvSpPr>
        <p:spPr>
          <a:xfrm>
            <a:off x="6858000" y="4562475"/>
            <a:ext cx="76200" cy="76200"/>
          </a:xfrm>
          <a:prstGeom prst="rect">
            <a:avLst/>
          </a:prstGeom>
          <a:solidFill>
            <a:srgbClr val="FF6B2C"/>
          </a:solidFill>
          <a:ln w="0">
            <a:solidFill>
              <a:srgbClr val="FF6B2C"/>
            </a:solidFill>
            <a:prstDash val="solid"/>
          </a:ln>
        </p:spPr>
        <p:txBody>
          <a:bodyPr/>
          <a:lstStyle/>
          <a:p>
            <a:endParaRPr lang="en-PH"/>
          </a:p>
        </p:txBody>
      </p:sp>
      <p:sp>
        <p:nvSpPr>
          <p:cNvPr id="15" name="Rectangle 14">
            <a:extLst>
              <a:ext uri="{FF2B5EF4-FFF2-40B4-BE49-F238E27FC236}">
                <a16:creationId xmlns:a16="http://schemas.microsoft.com/office/drawing/2014/main" id="{93E7600B-9F5D-47B2-8C36-EE93A632B09D}"/>
              </a:ext>
            </a:extLst>
          </p:cNvPr>
          <p:cNvSpPr>
            <a:spLocks noGrp="1"/>
          </p:cNvSpPr>
          <p:nvPr/>
        </p:nvSpPr>
        <p:spPr>
          <a:xfrm>
            <a:off x="7067550" y="4476750"/>
            <a:ext cx="3219450" cy="438150"/>
          </a:xfrm>
          <a:prstGeom prst="rect">
            <a:avLst/>
          </a:prstGeom>
          <a:noFill/>
          <a:ln w="0">
            <a:noFill/>
            <a:prstDash val="solid"/>
          </a:ln>
        </p:spPr>
        <p:txBody>
          <a:bodyPr/>
          <a:lstStyle/>
          <a:p>
            <a:pPr algn="l">
              <a:defRPr sz="1350" b="0">
                <a:solidFill>
                  <a:srgbClr val="111111"/>
                </a:solidFill>
              </a:defRPr>
            </a:pPr>
            <a:r>
              <a:rPr sz="1350" b="0">
                <a:solidFill>
                  <a:srgbClr val="111111"/>
                </a:solidFill>
              </a:rPr>
              <a:t>SignalR supports emergency, location, and notification updates.</a:t>
            </a:r>
          </a:p>
        </p:txBody>
      </p:sp>
      <p:sp>
        <p:nvSpPr>
          <p:cNvPr id="16" name="Rectangle 15">
            <a:extLst>
              <a:ext uri="{FF2B5EF4-FFF2-40B4-BE49-F238E27FC236}">
                <a16:creationId xmlns:a16="http://schemas.microsoft.com/office/drawing/2014/main" id="{8470F3C8-E3B0-4452-ACB9-9EE82458CF5B}"/>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17" name="Rectangle 16">
            <a:extLst>
              <a:ext uri="{FF2B5EF4-FFF2-40B4-BE49-F238E27FC236}">
                <a16:creationId xmlns:a16="http://schemas.microsoft.com/office/drawing/2014/main" id="{0928613B-5C4B-46CF-956D-F35A74DF4CAA}"/>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10</a:t>
            </a:r>
          </a:p>
        </p:txBody>
      </p:sp>
    </p:spTree>
    <p:extLst>
      <p:ext uri="{BB962C8B-B14F-4D97-AF65-F5344CB8AC3E}">
        <p14:creationId xmlns:p14="http://schemas.microsoft.com/office/powerpoint/2010/main" val="1370299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57E4A73C-5F1E-4246-8AEC-78D626051984}"/>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E6E8EE4C-DA60-4E9D-92B2-98F1F7A261B3}"/>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Shop and system administrators keep the platform trustworthy.</a:t>
            </a:r>
          </a:p>
        </p:txBody>
      </p:sp>
      <p:sp>
        <p:nvSpPr>
          <p:cNvPr id="3" name="Rectangle 2">
            <a:extLst>
              <a:ext uri="{FF2B5EF4-FFF2-40B4-BE49-F238E27FC236}">
                <a16:creationId xmlns:a16="http://schemas.microsoft.com/office/drawing/2014/main" id="{CBA7F6C5-FFB2-4FA3-8C60-418E67FEC8C3}"/>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168CB79C-F42B-41BE-8E94-021E561BBBBE}"/>
              </a:ext>
            </a:extLst>
          </p:cNvPr>
          <p:cNvSpPr>
            <a:spLocks noGrp="1"/>
          </p:cNvSpPr>
          <p:nvPr/>
        </p:nvSpPr>
        <p:spPr>
          <a:xfrm>
            <a:off x="800100" y="2266950"/>
            <a:ext cx="4762500" cy="2781300"/>
          </a:xfrm>
          <a:prstGeom prst="rect">
            <a:avLst/>
          </a:prstGeom>
          <a:solidFill>
            <a:srgbClr val="FAFAFA"/>
          </a:solidFill>
          <a:ln w="9525">
            <a:solidFill>
              <a:srgbClr val="D8DBE0"/>
            </a:solidFill>
            <a:prstDash val="solid"/>
          </a:ln>
        </p:spPr>
        <p:txBody>
          <a:bodyPr/>
          <a:lstStyle/>
          <a:p>
            <a:endParaRPr lang="en-PH"/>
          </a:p>
        </p:txBody>
      </p:sp>
      <p:sp>
        <p:nvSpPr>
          <p:cNvPr id="5" name="Rectangle 4">
            <a:extLst>
              <a:ext uri="{FF2B5EF4-FFF2-40B4-BE49-F238E27FC236}">
                <a16:creationId xmlns:a16="http://schemas.microsoft.com/office/drawing/2014/main" id="{0BDEDE6B-4F85-43C0-9C2A-413B9719087C}"/>
              </a:ext>
            </a:extLst>
          </p:cNvPr>
          <p:cNvSpPr>
            <a:spLocks noGrp="1"/>
          </p:cNvSpPr>
          <p:nvPr/>
        </p:nvSpPr>
        <p:spPr>
          <a:xfrm>
            <a:off x="1104900" y="2590800"/>
            <a:ext cx="3810000" cy="323850"/>
          </a:xfrm>
          <a:prstGeom prst="rect">
            <a:avLst/>
          </a:prstGeom>
          <a:noFill/>
          <a:ln w="0">
            <a:noFill/>
            <a:prstDash val="solid"/>
          </a:ln>
        </p:spPr>
        <p:txBody>
          <a:bodyPr/>
          <a:lstStyle/>
          <a:p>
            <a:pPr algn="l">
              <a:defRPr sz="2100" b="1">
                <a:solidFill>
                  <a:srgbClr val="111111"/>
                </a:solidFill>
              </a:defRPr>
            </a:pPr>
            <a:r>
              <a:rPr sz="2100" b="1">
                <a:solidFill>
                  <a:srgbClr val="111111"/>
                </a:solidFill>
              </a:rPr>
              <a:t>Shop Admin App</a:t>
            </a:r>
          </a:p>
        </p:txBody>
      </p:sp>
      <p:sp>
        <p:nvSpPr>
          <p:cNvPr id="6" name="Rectangle 5">
            <a:extLst>
              <a:ext uri="{FF2B5EF4-FFF2-40B4-BE49-F238E27FC236}">
                <a16:creationId xmlns:a16="http://schemas.microsoft.com/office/drawing/2014/main" id="{92F6899E-CF52-4236-ACB6-D70AF21193CC}"/>
              </a:ext>
            </a:extLst>
          </p:cNvPr>
          <p:cNvSpPr>
            <a:spLocks noGrp="1"/>
          </p:cNvSpPr>
          <p:nvPr/>
        </p:nvSpPr>
        <p:spPr>
          <a:xfrm>
            <a:off x="1162050" y="3267075"/>
            <a:ext cx="76200" cy="76200"/>
          </a:xfrm>
          <a:prstGeom prst="rect">
            <a:avLst/>
          </a:prstGeom>
          <a:solidFill>
            <a:srgbClr val="FF6B2C"/>
          </a:solidFill>
          <a:ln w="0">
            <a:solidFill>
              <a:srgbClr val="FF6B2C"/>
            </a:solidFill>
            <a:prstDash val="solid"/>
          </a:ln>
        </p:spPr>
        <p:txBody>
          <a:bodyPr/>
          <a:lstStyle/>
          <a:p>
            <a:endParaRPr lang="en-PH"/>
          </a:p>
        </p:txBody>
      </p:sp>
      <p:sp>
        <p:nvSpPr>
          <p:cNvPr id="7" name="Rectangle 6">
            <a:extLst>
              <a:ext uri="{FF2B5EF4-FFF2-40B4-BE49-F238E27FC236}">
                <a16:creationId xmlns:a16="http://schemas.microsoft.com/office/drawing/2014/main" id="{B2623D7C-D8C8-4F9E-B1F3-5D1BE8F79FAF}"/>
              </a:ext>
            </a:extLst>
          </p:cNvPr>
          <p:cNvSpPr>
            <a:spLocks noGrp="1"/>
          </p:cNvSpPr>
          <p:nvPr/>
        </p:nvSpPr>
        <p:spPr>
          <a:xfrm>
            <a:off x="1371600" y="3181350"/>
            <a:ext cx="3600450" cy="457200"/>
          </a:xfrm>
          <a:prstGeom prst="rect">
            <a:avLst/>
          </a:prstGeom>
          <a:noFill/>
          <a:ln w="0">
            <a:noFill/>
            <a:prstDash val="solid"/>
          </a:ln>
        </p:spPr>
        <p:txBody>
          <a:bodyPr/>
          <a:lstStyle/>
          <a:p>
            <a:pPr algn="l">
              <a:defRPr sz="1500" b="0">
                <a:solidFill>
                  <a:srgbClr val="111111"/>
                </a:solidFill>
              </a:defRPr>
            </a:pPr>
            <a:r>
              <a:rPr sz="1500" b="0">
                <a:solidFill>
                  <a:srgbClr val="111111"/>
                </a:solidFill>
              </a:rPr>
              <a:t>Shop application and OTP verification</a:t>
            </a:r>
          </a:p>
        </p:txBody>
      </p:sp>
      <p:sp>
        <p:nvSpPr>
          <p:cNvPr id="8" name="Rectangle 7">
            <a:extLst>
              <a:ext uri="{FF2B5EF4-FFF2-40B4-BE49-F238E27FC236}">
                <a16:creationId xmlns:a16="http://schemas.microsoft.com/office/drawing/2014/main" id="{D1511934-1076-4963-B90E-675EA7626AE2}"/>
              </a:ext>
            </a:extLst>
          </p:cNvPr>
          <p:cNvSpPr>
            <a:spLocks noGrp="1"/>
          </p:cNvSpPr>
          <p:nvPr/>
        </p:nvSpPr>
        <p:spPr>
          <a:xfrm>
            <a:off x="1162050" y="3743325"/>
            <a:ext cx="76200" cy="76200"/>
          </a:xfrm>
          <a:prstGeom prst="rect">
            <a:avLst/>
          </a:prstGeom>
          <a:solidFill>
            <a:srgbClr val="FF6B2C"/>
          </a:solidFill>
          <a:ln w="0">
            <a:solidFill>
              <a:srgbClr val="FF6B2C"/>
            </a:solidFill>
            <a:prstDash val="solid"/>
          </a:ln>
        </p:spPr>
        <p:txBody>
          <a:bodyPr/>
          <a:lstStyle/>
          <a:p>
            <a:endParaRPr lang="en-PH"/>
          </a:p>
        </p:txBody>
      </p:sp>
      <p:sp>
        <p:nvSpPr>
          <p:cNvPr id="9" name="Rectangle 8">
            <a:extLst>
              <a:ext uri="{FF2B5EF4-FFF2-40B4-BE49-F238E27FC236}">
                <a16:creationId xmlns:a16="http://schemas.microsoft.com/office/drawing/2014/main" id="{AD5CD99D-1E39-4E27-9CFB-2ECC48408D8D}"/>
              </a:ext>
            </a:extLst>
          </p:cNvPr>
          <p:cNvSpPr>
            <a:spLocks noGrp="1"/>
          </p:cNvSpPr>
          <p:nvPr/>
        </p:nvSpPr>
        <p:spPr>
          <a:xfrm>
            <a:off x="1371600" y="3657600"/>
            <a:ext cx="3600450" cy="457200"/>
          </a:xfrm>
          <a:prstGeom prst="rect">
            <a:avLst/>
          </a:prstGeom>
          <a:noFill/>
          <a:ln w="0">
            <a:noFill/>
            <a:prstDash val="solid"/>
          </a:ln>
        </p:spPr>
        <p:txBody>
          <a:bodyPr/>
          <a:lstStyle/>
          <a:p>
            <a:pPr algn="l">
              <a:defRPr sz="1500" b="0">
                <a:solidFill>
                  <a:srgbClr val="111111"/>
                </a:solidFill>
              </a:defRPr>
            </a:pPr>
            <a:r>
              <a:rPr sz="1500" b="0">
                <a:solidFill>
                  <a:srgbClr val="111111"/>
                </a:solidFill>
              </a:rPr>
              <a:t>Owner, shop, permit, and valid ID details</a:t>
            </a:r>
          </a:p>
        </p:txBody>
      </p:sp>
      <p:sp>
        <p:nvSpPr>
          <p:cNvPr id="10" name="Rectangle 9">
            <a:extLst>
              <a:ext uri="{FF2B5EF4-FFF2-40B4-BE49-F238E27FC236}">
                <a16:creationId xmlns:a16="http://schemas.microsoft.com/office/drawing/2014/main" id="{D5D50C9D-91FD-4A4B-A233-419ECC659B8C}"/>
              </a:ext>
            </a:extLst>
          </p:cNvPr>
          <p:cNvSpPr>
            <a:spLocks noGrp="1"/>
          </p:cNvSpPr>
          <p:nvPr/>
        </p:nvSpPr>
        <p:spPr>
          <a:xfrm>
            <a:off x="1162050" y="4219575"/>
            <a:ext cx="76200" cy="76200"/>
          </a:xfrm>
          <a:prstGeom prst="rect">
            <a:avLst/>
          </a:prstGeom>
          <a:solidFill>
            <a:srgbClr val="FF6B2C"/>
          </a:solidFill>
          <a:ln w="0">
            <a:solidFill>
              <a:srgbClr val="FF6B2C"/>
            </a:solidFill>
            <a:prstDash val="solid"/>
          </a:ln>
        </p:spPr>
        <p:txBody>
          <a:bodyPr/>
          <a:lstStyle/>
          <a:p>
            <a:endParaRPr lang="en-PH"/>
          </a:p>
        </p:txBody>
      </p:sp>
      <p:sp>
        <p:nvSpPr>
          <p:cNvPr id="11" name="Rectangle 10">
            <a:extLst>
              <a:ext uri="{FF2B5EF4-FFF2-40B4-BE49-F238E27FC236}">
                <a16:creationId xmlns:a16="http://schemas.microsoft.com/office/drawing/2014/main" id="{A94A2484-E03E-4A95-A484-032E9CEF4AB0}"/>
              </a:ext>
            </a:extLst>
          </p:cNvPr>
          <p:cNvSpPr>
            <a:spLocks noGrp="1"/>
          </p:cNvSpPr>
          <p:nvPr/>
        </p:nvSpPr>
        <p:spPr>
          <a:xfrm>
            <a:off x="1371600" y="4133850"/>
            <a:ext cx="3600450" cy="457200"/>
          </a:xfrm>
          <a:prstGeom prst="rect">
            <a:avLst/>
          </a:prstGeom>
          <a:noFill/>
          <a:ln w="0">
            <a:noFill/>
            <a:prstDash val="solid"/>
          </a:ln>
        </p:spPr>
        <p:txBody>
          <a:bodyPr/>
          <a:lstStyle/>
          <a:p>
            <a:pPr algn="l">
              <a:defRPr sz="1500" b="0">
                <a:solidFill>
                  <a:srgbClr val="111111"/>
                </a:solidFill>
              </a:defRPr>
            </a:pPr>
            <a:r>
              <a:rPr sz="1500" b="0">
                <a:solidFill>
                  <a:srgbClr val="111111"/>
                </a:solidFill>
              </a:rPr>
              <a:t>Services, products, bookings, mechanics, messages, reports</a:t>
            </a:r>
          </a:p>
        </p:txBody>
      </p:sp>
      <p:sp>
        <p:nvSpPr>
          <p:cNvPr id="12" name="Rectangle 11">
            <a:extLst>
              <a:ext uri="{FF2B5EF4-FFF2-40B4-BE49-F238E27FC236}">
                <a16:creationId xmlns:a16="http://schemas.microsoft.com/office/drawing/2014/main" id="{FD272AA6-2AEA-4FD7-A914-B4C7F9B1595B}"/>
              </a:ext>
            </a:extLst>
          </p:cNvPr>
          <p:cNvSpPr>
            <a:spLocks noGrp="1"/>
          </p:cNvSpPr>
          <p:nvPr/>
        </p:nvSpPr>
        <p:spPr>
          <a:xfrm>
            <a:off x="6343650" y="2266950"/>
            <a:ext cx="4762500" cy="2781300"/>
          </a:xfrm>
          <a:prstGeom prst="rect">
            <a:avLst/>
          </a:prstGeom>
          <a:solidFill>
            <a:srgbClr val="FFF1EA"/>
          </a:solidFill>
          <a:ln w="9525">
            <a:solidFill>
              <a:srgbClr val="D8DBE0"/>
            </a:solidFill>
            <a:prstDash val="solid"/>
          </a:ln>
        </p:spPr>
        <p:txBody>
          <a:bodyPr/>
          <a:lstStyle/>
          <a:p>
            <a:endParaRPr lang="en-PH"/>
          </a:p>
        </p:txBody>
      </p:sp>
      <p:sp>
        <p:nvSpPr>
          <p:cNvPr id="13" name="Rectangle 12">
            <a:extLst>
              <a:ext uri="{FF2B5EF4-FFF2-40B4-BE49-F238E27FC236}">
                <a16:creationId xmlns:a16="http://schemas.microsoft.com/office/drawing/2014/main" id="{36B3CC08-6A77-4670-8D37-A4B84379FD17}"/>
              </a:ext>
            </a:extLst>
          </p:cNvPr>
          <p:cNvSpPr>
            <a:spLocks noGrp="1"/>
          </p:cNvSpPr>
          <p:nvPr/>
        </p:nvSpPr>
        <p:spPr>
          <a:xfrm>
            <a:off x="6648450" y="2590800"/>
            <a:ext cx="3810000" cy="323850"/>
          </a:xfrm>
          <a:prstGeom prst="rect">
            <a:avLst/>
          </a:prstGeom>
          <a:noFill/>
          <a:ln w="0">
            <a:noFill/>
            <a:prstDash val="solid"/>
          </a:ln>
        </p:spPr>
        <p:txBody>
          <a:bodyPr/>
          <a:lstStyle/>
          <a:p>
            <a:pPr algn="l">
              <a:defRPr sz="2100" b="1">
                <a:solidFill>
                  <a:srgbClr val="111111"/>
                </a:solidFill>
              </a:defRPr>
            </a:pPr>
            <a:r>
              <a:rPr sz="2100" b="1">
                <a:solidFill>
                  <a:srgbClr val="111111"/>
                </a:solidFill>
              </a:rPr>
              <a:t>System Admin Web</a:t>
            </a:r>
          </a:p>
        </p:txBody>
      </p:sp>
      <p:sp>
        <p:nvSpPr>
          <p:cNvPr id="14" name="Rectangle 13">
            <a:extLst>
              <a:ext uri="{FF2B5EF4-FFF2-40B4-BE49-F238E27FC236}">
                <a16:creationId xmlns:a16="http://schemas.microsoft.com/office/drawing/2014/main" id="{45715DAC-E46A-4AF9-9192-5970289FD02A}"/>
              </a:ext>
            </a:extLst>
          </p:cNvPr>
          <p:cNvSpPr>
            <a:spLocks noGrp="1"/>
          </p:cNvSpPr>
          <p:nvPr/>
        </p:nvSpPr>
        <p:spPr>
          <a:xfrm>
            <a:off x="6705600" y="3267075"/>
            <a:ext cx="76200" cy="76200"/>
          </a:xfrm>
          <a:prstGeom prst="rect">
            <a:avLst/>
          </a:prstGeom>
          <a:solidFill>
            <a:srgbClr val="FF6B2C"/>
          </a:solidFill>
          <a:ln w="0">
            <a:solidFill>
              <a:srgbClr val="FF6B2C"/>
            </a:solidFill>
            <a:prstDash val="solid"/>
          </a:ln>
        </p:spPr>
        <p:txBody>
          <a:bodyPr/>
          <a:lstStyle/>
          <a:p>
            <a:endParaRPr lang="en-PH"/>
          </a:p>
        </p:txBody>
      </p:sp>
      <p:sp>
        <p:nvSpPr>
          <p:cNvPr id="15" name="Rectangle 14">
            <a:extLst>
              <a:ext uri="{FF2B5EF4-FFF2-40B4-BE49-F238E27FC236}">
                <a16:creationId xmlns:a16="http://schemas.microsoft.com/office/drawing/2014/main" id="{B5FFF595-CC3A-4BB3-A3C0-60179345F594}"/>
              </a:ext>
            </a:extLst>
          </p:cNvPr>
          <p:cNvSpPr>
            <a:spLocks noGrp="1"/>
          </p:cNvSpPr>
          <p:nvPr/>
        </p:nvSpPr>
        <p:spPr>
          <a:xfrm>
            <a:off x="6915150" y="3181350"/>
            <a:ext cx="3600450" cy="457200"/>
          </a:xfrm>
          <a:prstGeom prst="rect">
            <a:avLst/>
          </a:prstGeom>
          <a:noFill/>
          <a:ln w="0">
            <a:noFill/>
            <a:prstDash val="solid"/>
          </a:ln>
        </p:spPr>
        <p:txBody>
          <a:bodyPr/>
          <a:lstStyle/>
          <a:p>
            <a:pPr algn="l">
              <a:defRPr sz="1500" b="0">
                <a:solidFill>
                  <a:srgbClr val="111111"/>
                </a:solidFill>
              </a:defRPr>
            </a:pPr>
            <a:r>
              <a:rPr sz="1500" b="0">
                <a:solidFill>
                  <a:srgbClr val="111111"/>
                </a:solidFill>
              </a:rPr>
              <a:t>Dashboard for platform monitoring</a:t>
            </a:r>
          </a:p>
        </p:txBody>
      </p:sp>
      <p:sp>
        <p:nvSpPr>
          <p:cNvPr id="16" name="Rectangle 15">
            <a:extLst>
              <a:ext uri="{FF2B5EF4-FFF2-40B4-BE49-F238E27FC236}">
                <a16:creationId xmlns:a16="http://schemas.microsoft.com/office/drawing/2014/main" id="{99A6C48D-1F92-49AD-AD8B-1DDF6E8F88C5}"/>
              </a:ext>
            </a:extLst>
          </p:cNvPr>
          <p:cNvSpPr>
            <a:spLocks noGrp="1"/>
          </p:cNvSpPr>
          <p:nvPr/>
        </p:nvSpPr>
        <p:spPr>
          <a:xfrm>
            <a:off x="6705600" y="3743325"/>
            <a:ext cx="76200" cy="76200"/>
          </a:xfrm>
          <a:prstGeom prst="rect">
            <a:avLst/>
          </a:prstGeom>
          <a:solidFill>
            <a:srgbClr val="FF6B2C"/>
          </a:solidFill>
          <a:ln w="0">
            <a:solidFill>
              <a:srgbClr val="FF6B2C"/>
            </a:solidFill>
            <a:prstDash val="solid"/>
          </a:ln>
        </p:spPr>
        <p:txBody>
          <a:bodyPr/>
          <a:lstStyle/>
          <a:p>
            <a:endParaRPr lang="en-PH"/>
          </a:p>
        </p:txBody>
      </p:sp>
      <p:sp>
        <p:nvSpPr>
          <p:cNvPr id="17" name="Rectangle 16">
            <a:extLst>
              <a:ext uri="{FF2B5EF4-FFF2-40B4-BE49-F238E27FC236}">
                <a16:creationId xmlns:a16="http://schemas.microsoft.com/office/drawing/2014/main" id="{C7E5F69F-80C7-438B-8D6E-D656CF5A50D3}"/>
              </a:ext>
            </a:extLst>
          </p:cNvPr>
          <p:cNvSpPr>
            <a:spLocks noGrp="1"/>
          </p:cNvSpPr>
          <p:nvPr/>
        </p:nvSpPr>
        <p:spPr>
          <a:xfrm>
            <a:off x="6915150" y="3657600"/>
            <a:ext cx="3600450" cy="457200"/>
          </a:xfrm>
          <a:prstGeom prst="rect">
            <a:avLst/>
          </a:prstGeom>
          <a:noFill/>
          <a:ln w="0">
            <a:noFill/>
            <a:prstDash val="solid"/>
          </a:ln>
        </p:spPr>
        <p:txBody>
          <a:bodyPr/>
          <a:lstStyle/>
          <a:p>
            <a:pPr algn="l">
              <a:defRPr sz="1500" b="0">
                <a:solidFill>
                  <a:srgbClr val="111111"/>
                </a:solidFill>
              </a:defRPr>
            </a:pPr>
            <a:r>
              <a:rPr sz="1500" b="0">
                <a:solidFill>
                  <a:srgbClr val="111111"/>
                </a:solidFill>
              </a:rPr>
              <a:t>User, shop, mechanic, and customer approvals</a:t>
            </a:r>
          </a:p>
        </p:txBody>
      </p:sp>
      <p:sp>
        <p:nvSpPr>
          <p:cNvPr id="18" name="Rectangle 17">
            <a:extLst>
              <a:ext uri="{FF2B5EF4-FFF2-40B4-BE49-F238E27FC236}">
                <a16:creationId xmlns:a16="http://schemas.microsoft.com/office/drawing/2014/main" id="{B45BCCB9-0281-450E-8C74-4A172C67ECCE}"/>
              </a:ext>
            </a:extLst>
          </p:cNvPr>
          <p:cNvSpPr>
            <a:spLocks noGrp="1"/>
          </p:cNvSpPr>
          <p:nvPr/>
        </p:nvSpPr>
        <p:spPr>
          <a:xfrm>
            <a:off x="6705600" y="4219575"/>
            <a:ext cx="76200" cy="76200"/>
          </a:xfrm>
          <a:prstGeom prst="rect">
            <a:avLst/>
          </a:prstGeom>
          <a:solidFill>
            <a:srgbClr val="FF6B2C"/>
          </a:solidFill>
          <a:ln w="0">
            <a:solidFill>
              <a:srgbClr val="FF6B2C"/>
            </a:solidFill>
            <a:prstDash val="solid"/>
          </a:ln>
        </p:spPr>
        <p:txBody>
          <a:bodyPr/>
          <a:lstStyle/>
          <a:p>
            <a:endParaRPr lang="en-PH"/>
          </a:p>
        </p:txBody>
      </p:sp>
      <p:sp>
        <p:nvSpPr>
          <p:cNvPr id="19" name="Rectangle 18">
            <a:extLst>
              <a:ext uri="{FF2B5EF4-FFF2-40B4-BE49-F238E27FC236}">
                <a16:creationId xmlns:a16="http://schemas.microsoft.com/office/drawing/2014/main" id="{DDF1D293-319B-49DA-9793-CE3671076CCB}"/>
              </a:ext>
            </a:extLst>
          </p:cNvPr>
          <p:cNvSpPr>
            <a:spLocks noGrp="1"/>
          </p:cNvSpPr>
          <p:nvPr/>
        </p:nvSpPr>
        <p:spPr>
          <a:xfrm>
            <a:off x="6915150" y="4133850"/>
            <a:ext cx="3600450" cy="457200"/>
          </a:xfrm>
          <a:prstGeom prst="rect">
            <a:avLst/>
          </a:prstGeom>
          <a:noFill/>
          <a:ln w="0">
            <a:noFill/>
            <a:prstDash val="solid"/>
          </a:ln>
        </p:spPr>
        <p:txBody>
          <a:bodyPr/>
          <a:lstStyle/>
          <a:p>
            <a:pPr algn="l">
              <a:defRPr sz="1500" b="0">
                <a:solidFill>
                  <a:srgbClr val="111111"/>
                </a:solidFill>
              </a:defRPr>
            </a:pPr>
            <a:r>
              <a:rPr sz="1500" b="0">
                <a:solidFill>
                  <a:srgbClr val="111111"/>
                </a:solidFill>
              </a:rPr>
              <a:t>Requests, emergency queue, payments, and admin accounts</a:t>
            </a:r>
          </a:p>
        </p:txBody>
      </p:sp>
      <p:sp>
        <p:nvSpPr>
          <p:cNvPr id="20" name="Rectangle 19">
            <a:extLst>
              <a:ext uri="{FF2B5EF4-FFF2-40B4-BE49-F238E27FC236}">
                <a16:creationId xmlns:a16="http://schemas.microsoft.com/office/drawing/2014/main" id="{A2A6167E-36CD-4548-96A9-31C263B1EDD0}"/>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21" name="Rectangle 20">
            <a:extLst>
              <a:ext uri="{FF2B5EF4-FFF2-40B4-BE49-F238E27FC236}">
                <a16:creationId xmlns:a16="http://schemas.microsoft.com/office/drawing/2014/main" id="{B1A77856-3055-46EE-9E5D-0DD9B659C48D}"/>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11</a:t>
            </a:r>
          </a:p>
        </p:txBody>
      </p:sp>
    </p:spTree>
    <p:extLst>
      <p:ext uri="{BB962C8B-B14F-4D97-AF65-F5344CB8AC3E}">
        <p14:creationId xmlns:p14="http://schemas.microsoft.com/office/powerpoint/2010/main" val="206571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894DC01-4C60-4AD0-9D07-22CB198C5BAF}"/>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0506C0D3-F27B-46DA-BB0C-9FCFBA7437D8}"/>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database records both operations and accountability.</a:t>
            </a:r>
          </a:p>
        </p:txBody>
      </p:sp>
      <p:sp>
        <p:nvSpPr>
          <p:cNvPr id="3" name="Rectangle 2">
            <a:extLst>
              <a:ext uri="{FF2B5EF4-FFF2-40B4-BE49-F238E27FC236}">
                <a16:creationId xmlns:a16="http://schemas.microsoft.com/office/drawing/2014/main" id="{C1AA3237-B43B-4F2D-B5ED-440926A517BF}"/>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89257729-AF51-41B7-B417-EC1E4FF18A5D}"/>
              </a:ext>
            </a:extLst>
          </p:cNvPr>
          <p:cNvSpPr>
            <a:spLocks noGrp="1"/>
          </p:cNvSpPr>
          <p:nvPr/>
        </p:nvSpPr>
        <p:spPr>
          <a:xfrm>
            <a:off x="895350" y="2133600"/>
            <a:ext cx="2190750" cy="285750"/>
          </a:xfrm>
          <a:prstGeom prst="rect">
            <a:avLst/>
          </a:prstGeom>
          <a:noFill/>
          <a:ln w="0">
            <a:noFill/>
            <a:prstDash val="solid"/>
          </a:ln>
        </p:spPr>
        <p:txBody>
          <a:bodyPr/>
          <a:lstStyle/>
          <a:p>
            <a:pPr algn="l">
              <a:defRPr sz="1725" b="1">
                <a:solidFill>
                  <a:srgbClr val="111111"/>
                </a:solidFill>
              </a:defRPr>
            </a:pPr>
            <a:r>
              <a:rPr sz="1725" b="1">
                <a:solidFill>
                  <a:srgbClr val="111111"/>
                </a:solidFill>
              </a:rPr>
              <a:t>Identity</a:t>
            </a:r>
          </a:p>
        </p:txBody>
      </p:sp>
      <p:sp>
        <p:nvSpPr>
          <p:cNvPr id="5" name="Rectangle 4">
            <a:extLst>
              <a:ext uri="{FF2B5EF4-FFF2-40B4-BE49-F238E27FC236}">
                <a16:creationId xmlns:a16="http://schemas.microsoft.com/office/drawing/2014/main" id="{95A03129-392D-4AEC-9B43-2F5B4154F264}"/>
              </a:ext>
            </a:extLst>
          </p:cNvPr>
          <p:cNvSpPr>
            <a:spLocks noGrp="1"/>
          </p:cNvSpPr>
          <p:nvPr/>
        </p:nvSpPr>
        <p:spPr>
          <a:xfrm>
            <a:off x="3276600" y="2133600"/>
            <a:ext cx="7524750" cy="285750"/>
          </a:xfrm>
          <a:prstGeom prst="rect">
            <a:avLst/>
          </a:prstGeom>
          <a:noFill/>
          <a:ln w="0">
            <a:noFill/>
            <a:prstDash val="solid"/>
          </a:ln>
        </p:spPr>
        <p:txBody>
          <a:bodyPr/>
          <a:lstStyle/>
          <a:p>
            <a:pPr algn="l">
              <a:defRPr sz="1500" b="0">
                <a:solidFill>
                  <a:srgbClr val="5F6268"/>
                </a:solidFill>
              </a:defRPr>
            </a:pPr>
            <a:r>
              <a:rPr sz="1500" b="0">
                <a:solidFill>
                  <a:srgbClr val="5F6268"/>
                </a:solidFill>
              </a:rPr>
              <a:t>Users, roles, OTP, reset tokens, auth providers, device tokens</a:t>
            </a:r>
          </a:p>
        </p:txBody>
      </p:sp>
      <p:sp>
        <p:nvSpPr>
          <p:cNvPr id="6" name="Rectangle 5">
            <a:extLst>
              <a:ext uri="{FF2B5EF4-FFF2-40B4-BE49-F238E27FC236}">
                <a16:creationId xmlns:a16="http://schemas.microsoft.com/office/drawing/2014/main" id="{3301714D-5BD1-4DD8-844F-A0164D9C40BD}"/>
              </a:ext>
            </a:extLst>
          </p:cNvPr>
          <p:cNvSpPr>
            <a:spLocks noGrp="1"/>
          </p:cNvSpPr>
          <p:nvPr/>
        </p:nvSpPr>
        <p:spPr>
          <a:xfrm>
            <a:off x="895350" y="2571750"/>
            <a:ext cx="9810750" cy="9525"/>
          </a:xfrm>
          <a:prstGeom prst="rect">
            <a:avLst/>
          </a:prstGeom>
          <a:solidFill>
            <a:srgbClr val="B9BDC4"/>
          </a:solidFill>
          <a:ln w="0">
            <a:solidFill>
              <a:srgbClr val="B9BDC4"/>
            </a:solidFill>
            <a:prstDash val="solid"/>
          </a:ln>
        </p:spPr>
        <p:txBody>
          <a:bodyPr/>
          <a:lstStyle/>
          <a:p>
            <a:endParaRPr lang="en-PH"/>
          </a:p>
        </p:txBody>
      </p:sp>
      <p:sp>
        <p:nvSpPr>
          <p:cNvPr id="7" name="Rectangle 6">
            <a:extLst>
              <a:ext uri="{FF2B5EF4-FFF2-40B4-BE49-F238E27FC236}">
                <a16:creationId xmlns:a16="http://schemas.microsoft.com/office/drawing/2014/main" id="{DD631BFF-08B2-47B8-B54C-0CC663D4D912}"/>
              </a:ext>
            </a:extLst>
          </p:cNvPr>
          <p:cNvSpPr>
            <a:spLocks noGrp="1"/>
          </p:cNvSpPr>
          <p:nvPr/>
        </p:nvSpPr>
        <p:spPr>
          <a:xfrm>
            <a:off x="895350" y="2819400"/>
            <a:ext cx="2190750" cy="285750"/>
          </a:xfrm>
          <a:prstGeom prst="rect">
            <a:avLst/>
          </a:prstGeom>
          <a:noFill/>
          <a:ln w="0">
            <a:noFill/>
            <a:prstDash val="solid"/>
          </a:ln>
        </p:spPr>
        <p:txBody>
          <a:bodyPr/>
          <a:lstStyle/>
          <a:p>
            <a:pPr algn="l">
              <a:defRPr sz="1725" b="1">
                <a:solidFill>
                  <a:srgbClr val="111111"/>
                </a:solidFill>
              </a:defRPr>
            </a:pPr>
            <a:r>
              <a:rPr sz="1725" b="1">
                <a:solidFill>
                  <a:srgbClr val="111111"/>
                </a:solidFill>
              </a:rPr>
              <a:t>Service network</a:t>
            </a:r>
          </a:p>
        </p:txBody>
      </p:sp>
      <p:sp>
        <p:nvSpPr>
          <p:cNvPr id="8" name="Rectangle 7">
            <a:extLst>
              <a:ext uri="{FF2B5EF4-FFF2-40B4-BE49-F238E27FC236}">
                <a16:creationId xmlns:a16="http://schemas.microsoft.com/office/drawing/2014/main" id="{CF19604D-9537-4C97-B6A8-A629ABC2E0FA}"/>
              </a:ext>
            </a:extLst>
          </p:cNvPr>
          <p:cNvSpPr>
            <a:spLocks noGrp="1"/>
          </p:cNvSpPr>
          <p:nvPr/>
        </p:nvSpPr>
        <p:spPr>
          <a:xfrm>
            <a:off x="3276600" y="2819400"/>
            <a:ext cx="7524750" cy="285750"/>
          </a:xfrm>
          <a:prstGeom prst="rect">
            <a:avLst/>
          </a:prstGeom>
          <a:noFill/>
          <a:ln w="0">
            <a:noFill/>
            <a:prstDash val="solid"/>
          </a:ln>
        </p:spPr>
        <p:txBody>
          <a:bodyPr/>
          <a:lstStyle/>
          <a:p>
            <a:pPr algn="l">
              <a:defRPr sz="1500" b="0">
                <a:solidFill>
                  <a:srgbClr val="5F6268"/>
                </a:solidFill>
              </a:defRPr>
            </a:pPr>
            <a:r>
              <a:rPr sz="1500" b="0">
                <a:solidFill>
                  <a:srgbClr val="5F6268"/>
                </a:solidFill>
              </a:rPr>
              <a:t>Clients, motorcycles, mechanics, shops, hours, services, products</a:t>
            </a:r>
          </a:p>
        </p:txBody>
      </p:sp>
      <p:sp>
        <p:nvSpPr>
          <p:cNvPr id="9" name="Rectangle 8">
            <a:extLst>
              <a:ext uri="{FF2B5EF4-FFF2-40B4-BE49-F238E27FC236}">
                <a16:creationId xmlns:a16="http://schemas.microsoft.com/office/drawing/2014/main" id="{745DD330-2C46-46E0-9287-7DC7E7C68691}"/>
              </a:ext>
            </a:extLst>
          </p:cNvPr>
          <p:cNvSpPr>
            <a:spLocks noGrp="1"/>
          </p:cNvSpPr>
          <p:nvPr/>
        </p:nvSpPr>
        <p:spPr>
          <a:xfrm>
            <a:off x="895350" y="3257550"/>
            <a:ext cx="9810750" cy="9525"/>
          </a:xfrm>
          <a:prstGeom prst="rect">
            <a:avLst/>
          </a:prstGeom>
          <a:solidFill>
            <a:srgbClr val="B9BDC4"/>
          </a:solidFill>
          <a:ln w="0">
            <a:solidFill>
              <a:srgbClr val="B9BDC4"/>
            </a:solidFill>
            <a:prstDash val="solid"/>
          </a:ln>
        </p:spPr>
        <p:txBody>
          <a:bodyPr/>
          <a:lstStyle/>
          <a:p>
            <a:endParaRPr lang="en-PH"/>
          </a:p>
        </p:txBody>
      </p:sp>
      <p:sp>
        <p:nvSpPr>
          <p:cNvPr id="10" name="Rectangle 9">
            <a:extLst>
              <a:ext uri="{FF2B5EF4-FFF2-40B4-BE49-F238E27FC236}">
                <a16:creationId xmlns:a16="http://schemas.microsoft.com/office/drawing/2014/main" id="{A3CC28BA-7371-45C0-8764-BF25F3673A5B}"/>
              </a:ext>
            </a:extLst>
          </p:cNvPr>
          <p:cNvSpPr>
            <a:spLocks noGrp="1"/>
          </p:cNvSpPr>
          <p:nvPr/>
        </p:nvSpPr>
        <p:spPr>
          <a:xfrm>
            <a:off x="895350" y="3505200"/>
            <a:ext cx="2190750" cy="285750"/>
          </a:xfrm>
          <a:prstGeom prst="rect">
            <a:avLst/>
          </a:prstGeom>
          <a:noFill/>
          <a:ln w="0">
            <a:noFill/>
            <a:prstDash val="solid"/>
          </a:ln>
        </p:spPr>
        <p:txBody>
          <a:bodyPr/>
          <a:lstStyle/>
          <a:p>
            <a:pPr algn="l">
              <a:defRPr sz="1725" b="1">
                <a:solidFill>
                  <a:srgbClr val="111111"/>
                </a:solidFill>
              </a:defRPr>
            </a:pPr>
            <a:r>
              <a:rPr sz="1725" b="1">
                <a:solidFill>
                  <a:srgbClr val="111111"/>
                </a:solidFill>
              </a:rPr>
              <a:t>Transactions</a:t>
            </a:r>
          </a:p>
        </p:txBody>
      </p:sp>
      <p:sp>
        <p:nvSpPr>
          <p:cNvPr id="11" name="Rectangle 10">
            <a:extLst>
              <a:ext uri="{FF2B5EF4-FFF2-40B4-BE49-F238E27FC236}">
                <a16:creationId xmlns:a16="http://schemas.microsoft.com/office/drawing/2014/main" id="{44F910B2-E86E-46B5-8D8E-6E6EA312E65B}"/>
              </a:ext>
            </a:extLst>
          </p:cNvPr>
          <p:cNvSpPr>
            <a:spLocks noGrp="1"/>
          </p:cNvSpPr>
          <p:nvPr/>
        </p:nvSpPr>
        <p:spPr>
          <a:xfrm>
            <a:off x="3276600" y="3505200"/>
            <a:ext cx="7524750" cy="285750"/>
          </a:xfrm>
          <a:prstGeom prst="rect">
            <a:avLst/>
          </a:prstGeom>
          <a:noFill/>
          <a:ln w="0">
            <a:noFill/>
            <a:prstDash val="solid"/>
          </a:ln>
        </p:spPr>
        <p:txBody>
          <a:bodyPr/>
          <a:lstStyle/>
          <a:p>
            <a:pPr algn="l">
              <a:defRPr sz="1500" b="0">
                <a:solidFill>
                  <a:srgbClr val="5F6268"/>
                </a:solidFill>
              </a:defRPr>
            </a:pPr>
            <a:r>
              <a:rPr sz="1500" b="0">
                <a:solidFill>
                  <a:srgbClr val="5F6268"/>
                </a:solidFill>
              </a:rPr>
              <a:t>Service requests, status history, media, payments, payment events</a:t>
            </a:r>
          </a:p>
        </p:txBody>
      </p:sp>
      <p:sp>
        <p:nvSpPr>
          <p:cNvPr id="12" name="Rectangle 11">
            <a:extLst>
              <a:ext uri="{FF2B5EF4-FFF2-40B4-BE49-F238E27FC236}">
                <a16:creationId xmlns:a16="http://schemas.microsoft.com/office/drawing/2014/main" id="{2DA0439A-7F68-41FD-ACE6-905A163CDFDC}"/>
              </a:ext>
            </a:extLst>
          </p:cNvPr>
          <p:cNvSpPr>
            <a:spLocks noGrp="1"/>
          </p:cNvSpPr>
          <p:nvPr/>
        </p:nvSpPr>
        <p:spPr>
          <a:xfrm>
            <a:off x="895350" y="3943350"/>
            <a:ext cx="9810750" cy="9525"/>
          </a:xfrm>
          <a:prstGeom prst="rect">
            <a:avLst/>
          </a:prstGeom>
          <a:solidFill>
            <a:srgbClr val="B9BDC4"/>
          </a:solidFill>
          <a:ln w="0">
            <a:solidFill>
              <a:srgbClr val="B9BDC4"/>
            </a:solidFill>
            <a:prstDash val="solid"/>
          </a:ln>
        </p:spPr>
        <p:txBody>
          <a:bodyPr/>
          <a:lstStyle/>
          <a:p>
            <a:endParaRPr lang="en-PH"/>
          </a:p>
        </p:txBody>
      </p:sp>
      <p:sp>
        <p:nvSpPr>
          <p:cNvPr id="13" name="Rectangle 12">
            <a:extLst>
              <a:ext uri="{FF2B5EF4-FFF2-40B4-BE49-F238E27FC236}">
                <a16:creationId xmlns:a16="http://schemas.microsoft.com/office/drawing/2014/main" id="{A3F37406-477E-47E4-BA78-1A59CBCEBDC3}"/>
              </a:ext>
            </a:extLst>
          </p:cNvPr>
          <p:cNvSpPr>
            <a:spLocks noGrp="1"/>
          </p:cNvSpPr>
          <p:nvPr/>
        </p:nvSpPr>
        <p:spPr>
          <a:xfrm>
            <a:off x="895350" y="4191000"/>
            <a:ext cx="2190750" cy="285750"/>
          </a:xfrm>
          <a:prstGeom prst="rect">
            <a:avLst/>
          </a:prstGeom>
          <a:noFill/>
          <a:ln w="0">
            <a:noFill/>
            <a:prstDash val="solid"/>
          </a:ln>
        </p:spPr>
        <p:txBody>
          <a:bodyPr/>
          <a:lstStyle/>
          <a:p>
            <a:pPr algn="l">
              <a:defRPr sz="1725" b="1">
                <a:solidFill>
                  <a:srgbClr val="111111"/>
                </a:solidFill>
              </a:defRPr>
            </a:pPr>
            <a:r>
              <a:rPr sz="1725" b="1">
                <a:solidFill>
                  <a:srgbClr val="111111"/>
                </a:solidFill>
              </a:rPr>
              <a:t>Engagement</a:t>
            </a:r>
          </a:p>
        </p:txBody>
      </p:sp>
      <p:sp>
        <p:nvSpPr>
          <p:cNvPr id="14" name="Rectangle 13">
            <a:extLst>
              <a:ext uri="{FF2B5EF4-FFF2-40B4-BE49-F238E27FC236}">
                <a16:creationId xmlns:a16="http://schemas.microsoft.com/office/drawing/2014/main" id="{C6DCFB29-BD29-47D8-8943-7FFC6DED23F1}"/>
              </a:ext>
            </a:extLst>
          </p:cNvPr>
          <p:cNvSpPr>
            <a:spLocks noGrp="1"/>
          </p:cNvSpPr>
          <p:nvPr/>
        </p:nvSpPr>
        <p:spPr>
          <a:xfrm>
            <a:off x="3276600" y="4191000"/>
            <a:ext cx="7524750" cy="285750"/>
          </a:xfrm>
          <a:prstGeom prst="rect">
            <a:avLst/>
          </a:prstGeom>
          <a:noFill/>
          <a:ln w="0">
            <a:noFill/>
            <a:prstDash val="solid"/>
          </a:ln>
        </p:spPr>
        <p:txBody>
          <a:bodyPr/>
          <a:lstStyle/>
          <a:p>
            <a:pPr algn="l">
              <a:defRPr sz="1500" b="0">
                <a:solidFill>
                  <a:srgbClr val="5F6268"/>
                </a:solidFill>
              </a:defRPr>
            </a:pPr>
            <a:r>
              <a:rPr sz="1500" b="0">
                <a:solidFill>
                  <a:srgbClr val="5F6268"/>
                </a:solidFill>
              </a:rPr>
              <a:t>Conversations, messages, reviews, notifications, live locations</a:t>
            </a:r>
          </a:p>
        </p:txBody>
      </p:sp>
      <p:sp>
        <p:nvSpPr>
          <p:cNvPr id="15" name="Rectangle 14">
            <a:extLst>
              <a:ext uri="{FF2B5EF4-FFF2-40B4-BE49-F238E27FC236}">
                <a16:creationId xmlns:a16="http://schemas.microsoft.com/office/drawing/2014/main" id="{D9EFD45A-6316-4BC8-9D3C-4AD8C047CFF2}"/>
              </a:ext>
            </a:extLst>
          </p:cNvPr>
          <p:cNvSpPr>
            <a:spLocks noGrp="1"/>
          </p:cNvSpPr>
          <p:nvPr/>
        </p:nvSpPr>
        <p:spPr>
          <a:xfrm>
            <a:off x="895350" y="4629150"/>
            <a:ext cx="9810750" cy="9525"/>
          </a:xfrm>
          <a:prstGeom prst="rect">
            <a:avLst/>
          </a:prstGeom>
          <a:solidFill>
            <a:srgbClr val="B9BDC4"/>
          </a:solidFill>
          <a:ln w="0">
            <a:solidFill>
              <a:srgbClr val="B9BDC4"/>
            </a:solidFill>
            <a:prstDash val="solid"/>
          </a:ln>
        </p:spPr>
        <p:txBody>
          <a:bodyPr/>
          <a:lstStyle/>
          <a:p>
            <a:endParaRPr lang="en-PH"/>
          </a:p>
        </p:txBody>
      </p:sp>
      <p:sp>
        <p:nvSpPr>
          <p:cNvPr id="16" name="Rectangle 15">
            <a:extLst>
              <a:ext uri="{FF2B5EF4-FFF2-40B4-BE49-F238E27FC236}">
                <a16:creationId xmlns:a16="http://schemas.microsoft.com/office/drawing/2014/main" id="{A886612B-AEA5-4849-B6C4-1375F9D85610}"/>
              </a:ext>
            </a:extLst>
          </p:cNvPr>
          <p:cNvSpPr>
            <a:spLocks noGrp="1"/>
          </p:cNvSpPr>
          <p:nvPr/>
        </p:nvSpPr>
        <p:spPr>
          <a:xfrm>
            <a:off x="895350" y="4876800"/>
            <a:ext cx="2190750" cy="285750"/>
          </a:xfrm>
          <a:prstGeom prst="rect">
            <a:avLst/>
          </a:prstGeom>
          <a:noFill/>
          <a:ln w="0">
            <a:noFill/>
            <a:prstDash val="solid"/>
          </a:ln>
        </p:spPr>
        <p:txBody>
          <a:bodyPr/>
          <a:lstStyle/>
          <a:p>
            <a:pPr algn="l">
              <a:defRPr sz="1725" b="1">
                <a:solidFill>
                  <a:srgbClr val="FF6B2C"/>
                </a:solidFill>
              </a:defRPr>
            </a:pPr>
            <a:r>
              <a:rPr sz="1725" b="1">
                <a:solidFill>
                  <a:srgbClr val="FF6B2C"/>
                </a:solidFill>
              </a:rPr>
              <a:t>Governance</a:t>
            </a:r>
          </a:p>
        </p:txBody>
      </p:sp>
      <p:sp>
        <p:nvSpPr>
          <p:cNvPr id="17" name="Rectangle 16">
            <a:extLst>
              <a:ext uri="{FF2B5EF4-FFF2-40B4-BE49-F238E27FC236}">
                <a16:creationId xmlns:a16="http://schemas.microsoft.com/office/drawing/2014/main" id="{41F02D71-6E46-471A-9235-AECF0C890432}"/>
              </a:ext>
            </a:extLst>
          </p:cNvPr>
          <p:cNvSpPr>
            <a:spLocks noGrp="1"/>
          </p:cNvSpPr>
          <p:nvPr/>
        </p:nvSpPr>
        <p:spPr>
          <a:xfrm>
            <a:off x="3276600" y="4876800"/>
            <a:ext cx="7524750" cy="285750"/>
          </a:xfrm>
          <a:prstGeom prst="rect">
            <a:avLst/>
          </a:prstGeom>
          <a:noFill/>
          <a:ln w="0">
            <a:noFill/>
            <a:prstDash val="solid"/>
          </a:ln>
        </p:spPr>
        <p:txBody>
          <a:bodyPr/>
          <a:lstStyle/>
          <a:p>
            <a:pPr algn="l">
              <a:defRPr sz="1500" b="0">
                <a:solidFill>
                  <a:srgbClr val="5F6268"/>
                </a:solidFill>
              </a:defRPr>
            </a:pPr>
            <a:r>
              <a:rPr sz="1500" b="0">
                <a:solidFill>
                  <a:srgbClr val="5F6268"/>
                </a:solidFill>
              </a:rPr>
              <a:t>Audit logs, verification status, account status, shop status</a:t>
            </a:r>
          </a:p>
        </p:txBody>
      </p:sp>
      <p:sp>
        <p:nvSpPr>
          <p:cNvPr id="18" name="Rectangle 17">
            <a:extLst>
              <a:ext uri="{FF2B5EF4-FFF2-40B4-BE49-F238E27FC236}">
                <a16:creationId xmlns:a16="http://schemas.microsoft.com/office/drawing/2014/main" id="{469EA794-9797-4B77-B7F2-5F8EB6581B50}"/>
              </a:ext>
            </a:extLst>
          </p:cNvPr>
          <p:cNvSpPr>
            <a:spLocks noGrp="1"/>
          </p:cNvSpPr>
          <p:nvPr/>
        </p:nvSpPr>
        <p:spPr>
          <a:xfrm>
            <a:off x="895350" y="5314950"/>
            <a:ext cx="9810750" cy="9525"/>
          </a:xfrm>
          <a:prstGeom prst="rect">
            <a:avLst/>
          </a:prstGeom>
          <a:solidFill>
            <a:srgbClr val="B9BDC4"/>
          </a:solidFill>
          <a:ln w="0">
            <a:solidFill>
              <a:srgbClr val="B9BDC4"/>
            </a:solidFill>
            <a:prstDash val="solid"/>
          </a:ln>
        </p:spPr>
        <p:txBody>
          <a:bodyPr/>
          <a:lstStyle/>
          <a:p>
            <a:endParaRPr lang="en-PH"/>
          </a:p>
        </p:txBody>
      </p:sp>
      <p:sp>
        <p:nvSpPr>
          <p:cNvPr id="19" name="Rectangle 18">
            <a:extLst>
              <a:ext uri="{FF2B5EF4-FFF2-40B4-BE49-F238E27FC236}">
                <a16:creationId xmlns:a16="http://schemas.microsoft.com/office/drawing/2014/main" id="{9C0BDB09-10A6-4AE8-B481-899BF8B3D3AD}"/>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20" name="Rectangle 19">
            <a:extLst>
              <a:ext uri="{FF2B5EF4-FFF2-40B4-BE49-F238E27FC236}">
                <a16:creationId xmlns:a16="http://schemas.microsoft.com/office/drawing/2014/main" id="{76450C8D-2F04-4F28-8DA8-22A3AAF98640}"/>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12</a:t>
            </a:r>
          </a:p>
        </p:txBody>
      </p:sp>
    </p:spTree>
    <p:extLst>
      <p:ext uri="{BB962C8B-B14F-4D97-AF65-F5344CB8AC3E}">
        <p14:creationId xmlns:p14="http://schemas.microsoft.com/office/powerpoint/2010/main" val="1603396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006316C-3333-4692-8B77-850BC28431AD}"/>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65FB0DAB-EE46-45F0-B172-07A2FD3F171D}"/>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The API exposes the main business workflows through role-aware endpoints.</a:t>
            </a:r>
          </a:p>
        </p:txBody>
      </p:sp>
      <p:sp>
        <p:nvSpPr>
          <p:cNvPr id="3" name="Rectangle 2">
            <a:extLst>
              <a:ext uri="{FF2B5EF4-FFF2-40B4-BE49-F238E27FC236}">
                <a16:creationId xmlns:a16="http://schemas.microsoft.com/office/drawing/2014/main" id="{AB6BEE08-F85A-4F88-83AA-D10CBC2F5129}"/>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3DD2FE20-21BB-47FB-8B79-9DFB72207111}"/>
              </a:ext>
            </a:extLst>
          </p:cNvPr>
          <p:cNvSpPr>
            <a:spLocks noGrp="1"/>
          </p:cNvSpPr>
          <p:nvPr/>
        </p:nvSpPr>
        <p:spPr>
          <a:xfrm>
            <a:off x="762000" y="2343150"/>
            <a:ext cx="2952750" cy="2590800"/>
          </a:xfrm>
          <a:prstGeom prst="rect">
            <a:avLst/>
          </a:prstGeom>
          <a:solidFill>
            <a:srgbClr val="FAFAFA"/>
          </a:solidFill>
          <a:ln w="9525">
            <a:solidFill>
              <a:srgbClr val="D8DBE0"/>
            </a:solidFill>
            <a:prstDash val="solid"/>
          </a:ln>
        </p:spPr>
        <p:txBody>
          <a:bodyPr/>
          <a:lstStyle/>
          <a:p>
            <a:endParaRPr lang="en-PH"/>
          </a:p>
        </p:txBody>
      </p:sp>
      <p:sp>
        <p:nvSpPr>
          <p:cNvPr id="5" name="Rectangle 4">
            <a:extLst>
              <a:ext uri="{FF2B5EF4-FFF2-40B4-BE49-F238E27FC236}">
                <a16:creationId xmlns:a16="http://schemas.microsoft.com/office/drawing/2014/main" id="{75F9C904-1695-4D1B-B57A-7E0898643592}"/>
              </a:ext>
            </a:extLst>
          </p:cNvPr>
          <p:cNvSpPr>
            <a:spLocks noGrp="1"/>
          </p:cNvSpPr>
          <p:nvPr/>
        </p:nvSpPr>
        <p:spPr>
          <a:xfrm>
            <a:off x="990600" y="2647950"/>
            <a:ext cx="2476500" cy="323850"/>
          </a:xfrm>
          <a:prstGeom prst="rect">
            <a:avLst/>
          </a:prstGeom>
          <a:noFill/>
          <a:ln w="0">
            <a:noFill/>
            <a:prstDash val="solid"/>
          </a:ln>
        </p:spPr>
        <p:txBody>
          <a:bodyPr/>
          <a:lstStyle/>
          <a:p>
            <a:pPr algn="l">
              <a:defRPr sz="1950" b="1">
                <a:solidFill>
                  <a:srgbClr val="111111"/>
                </a:solidFill>
              </a:defRPr>
            </a:pPr>
            <a:r>
              <a:rPr sz="1950" b="1">
                <a:solidFill>
                  <a:srgbClr val="111111"/>
                </a:solidFill>
              </a:rPr>
              <a:t>Core APIs</a:t>
            </a:r>
          </a:p>
        </p:txBody>
      </p:sp>
      <p:sp>
        <p:nvSpPr>
          <p:cNvPr id="6" name="Rectangle 5">
            <a:extLst>
              <a:ext uri="{FF2B5EF4-FFF2-40B4-BE49-F238E27FC236}">
                <a16:creationId xmlns:a16="http://schemas.microsoft.com/office/drawing/2014/main" id="{57F08196-2B3F-43DC-8F66-B5FE1DC68F62}"/>
              </a:ext>
            </a:extLst>
          </p:cNvPr>
          <p:cNvSpPr>
            <a:spLocks noGrp="1"/>
          </p:cNvSpPr>
          <p:nvPr/>
        </p:nvSpPr>
        <p:spPr>
          <a:xfrm>
            <a:off x="990600" y="3124200"/>
            <a:ext cx="2286000" cy="1428750"/>
          </a:xfrm>
          <a:prstGeom prst="rect">
            <a:avLst/>
          </a:prstGeom>
          <a:noFill/>
          <a:ln w="0">
            <a:noFill/>
            <a:prstDash val="solid"/>
          </a:ln>
        </p:spPr>
        <p:txBody>
          <a:bodyPr/>
          <a:lstStyle/>
          <a:p>
            <a:pPr algn="l">
              <a:defRPr sz="1650" b="0">
                <a:solidFill>
                  <a:srgbClr val="5F6268"/>
                </a:solidFill>
              </a:defRPr>
            </a:pPr>
            <a:r>
              <a:rPr sz="1650" b="0">
                <a:solidFill>
                  <a:srgbClr val="5F6268"/>
                </a:solidFill>
              </a:rPr>
              <a:t>Auth</a:t>
            </a:r>
          </a:p>
          <a:p>
            <a:pPr algn="l">
              <a:defRPr sz="1650" b="0">
                <a:solidFill>
                  <a:srgbClr val="5F6268"/>
                </a:solidFill>
              </a:defRPr>
            </a:pPr>
            <a:r>
              <a:rPr sz="1650" b="0">
                <a:solidFill>
                  <a:srgbClr val="5F6268"/>
                </a:solidFill>
              </a:rPr>
              <a:t>Customers</a:t>
            </a:r>
          </a:p>
          <a:p>
            <a:pPr algn="l">
              <a:defRPr sz="1650" b="0">
                <a:solidFill>
                  <a:srgbClr val="5F6268"/>
                </a:solidFill>
              </a:defRPr>
            </a:pPr>
            <a:r>
              <a:rPr sz="1650" b="0">
                <a:solidFill>
                  <a:srgbClr val="5F6268"/>
                </a:solidFill>
              </a:rPr>
              <a:t>Mechanics</a:t>
            </a:r>
          </a:p>
          <a:p>
            <a:pPr algn="l">
              <a:defRPr sz="1650" b="0">
                <a:solidFill>
                  <a:srgbClr val="5F6268"/>
                </a:solidFill>
              </a:defRPr>
            </a:pPr>
            <a:r>
              <a:rPr sz="1650" b="0">
                <a:solidFill>
                  <a:srgbClr val="5F6268"/>
                </a:solidFill>
              </a:rPr>
              <a:t>Shops</a:t>
            </a:r>
          </a:p>
          <a:p>
            <a:pPr algn="l">
              <a:defRPr sz="1650" b="0">
                <a:solidFill>
                  <a:srgbClr val="5F6268"/>
                </a:solidFill>
              </a:defRPr>
            </a:pPr>
            <a:r>
              <a:rPr sz="1650" b="0">
                <a:solidFill>
                  <a:srgbClr val="5F6268"/>
                </a:solidFill>
              </a:rPr>
              <a:t>Services</a:t>
            </a:r>
          </a:p>
          <a:p>
            <a:pPr algn="l">
              <a:defRPr sz="1650" b="0">
                <a:solidFill>
                  <a:srgbClr val="5F6268"/>
                </a:solidFill>
              </a:defRPr>
            </a:pPr>
            <a:r>
              <a:rPr sz="1650" b="0">
                <a:solidFill>
                  <a:srgbClr val="5F6268"/>
                </a:solidFill>
              </a:rPr>
              <a:t>Products</a:t>
            </a:r>
          </a:p>
        </p:txBody>
      </p:sp>
      <p:sp>
        <p:nvSpPr>
          <p:cNvPr id="7" name="Rectangle 6">
            <a:extLst>
              <a:ext uri="{FF2B5EF4-FFF2-40B4-BE49-F238E27FC236}">
                <a16:creationId xmlns:a16="http://schemas.microsoft.com/office/drawing/2014/main" id="{5300A4AE-2BC4-4D8A-884D-A0A707E82208}"/>
              </a:ext>
            </a:extLst>
          </p:cNvPr>
          <p:cNvSpPr>
            <a:spLocks noGrp="1"/>
          </p:cNvSpPr>
          <p:nvPr/>
        </p:nvSpPr>
        <p:spPr>
          <a:xfrm>
            <a:off x="4400550" y="2343150"/>
            <a:ext cx="2952750" cy="2590800"/>
          </a:xfrm>
          <a:prstGeom prst="rect">
            <a:avLst/>
          </a:prstGeom>
          <a:solidFill>
            <a:srgbClr val="FFF1EA"/>
          </a:solidFill>
          <a:ln w="9525">
            <a:solidFill>
              <a:srgbClr val="D8DBE0"/>
            </a:solidFill>
            <a:prstDash val="solid"/>
          </a:ln>
        </p:spPr>
        <p:txBody>
          <a:bodyPr/>
          <a:lstStyle/>
          <a:p>
            <a:endParaRPr lang="en-PH"/>
          </a:p>
        </p:txBody>
      </p:sp>
      <p:sp>
        <p:nvSpPr>
          <p:cNvPr id="8" name="Rectangle 7">
            <a:extLst>
              <a:ext uri="{FF2B5EF4-FFF2-40B4-BE49-F238E27FC236}">
                <a16:creationId xmlns:a16="http://schemas.microsoft.com/office/drawing/2014/main" id="{C0A6895A-548A-4F1F-B604-2A12D0ABF088}"/>
              </a:ext>
            </a:extLst>
          </p:cNvPr>
          <p:cNvSpPr>
            <a:spLocks noGrp="1"/>
          </p:cNvSpPr>
          <p:nvPr/>
        </p:nvSpPr>
        <p:spPr>
          <a:xfrm>
            <a:off x="4629150" y="2647950"/>
            <a:ext cx="2476500" cy="323850"/>
          </a:xfrm>
          <a:prstGeom prst="rect">
            <a:avLst/>
          </a:prstGeom>
          <a:noFill/>
          <a:ln w="0">
            <a:noFill/>
            <a:prstDash val="solid"/>
          </a:ln>
        </p:spPr>
        <p:txBody>
          <a:bodyPr/>
          <a:lstStyle/>
          <a:p>
            <a:pPr algn="l">
              <a:defRPr sz="1950" b="1">
                <a:solidFill>
                  <a:srgbClr val="111111"/>
                </a:solidFill>
              </a:defRPr>
            </a:pPr>
            <a:r>
              <a:rPr sz="1950" b="1">
                <a:solidFill>
                  <a:srgbClr val="111111"/>
                </a:solidFill>
              </a:rPr>
              <a:t>Operations</a:t>
            </a:r>
          </a:p>
        </p:txBody>
      </p:sp>
      <p:sp>
        <p:nvSpPr>
          <p:cNvPr id="9" name="Rectangle 8">
            <a:extLst>
              <a:ext uri="{FF2B5EF4-FFF2-40B4-BE49-F238E27FC236}">
                <a16:creationId xmlns:a16="http://schemas.microsoft.com/office/drawing/2014/main" id="{10D8D7F5-59A9-4B12-B749-05FD50BEF80C}"/>
              </a:ext>
            </a:extLst>
          </p:cNvPr>
          <p:cNvSpPr>
            <a:spLocks noGrp="1"/>
          </p:cNvSpPr>
          <p:nvPr/>
        </p:nvSpPr>
        <p:spPr>
          <a:xfrm>
            <a:off x="4629150" y="3124200"/>
            <a:ext cx="2286000" cy="1428750"/>
          </a:xfrm>
          <a:prstGeom prst="rect">
            <a:avLst/>
          </a:prstGeom>
          <a:noFill/>
          <a:ln w="0">
            <a:noFill/>
            <a:prstDash val="solid"/>
          </a:ln>
        </p:spPr>
        <p:txBody>
          <a:bodyPr/>
          <a:lstStyle/>
          <a:p>
            <a:pPr algn="l">
              <a:defRPr sz="1650" b="0">
                <a:solidFill>
                  <a:srgbClr val="5F6268"/>
                </a:solidFill>
              </a:defRPr>
            </a:pPr>
            <a:r>
              <a:rPr sz="1650" b="0">
                <a:solidFill>
                  <a:srgbClr val="5F6268"/>
                </a:solidFill>
              </a:rPr>
              <a:t>Service Requests</a:t>
            </a:r>
          </a:p>
          <a:p>
            <a:pPr algn="l">
              <a:defRPr sz="1650" b="0">
                <a:solidFill>
                  <a:srgbClr val="5F6268"/>
                </a:solidFill>
              </a:defRPr>
            </a:pPr>
            <a:r>
              <a:rPr sz="1650" b="0">
                <a:solidFill>
                  <a:srgbClr val="5F6268"/>
                </a:solidFill>
              </a:rPr>
              <a:t>Emergency</a:t>
            </a:r>
          </a:p>
          <a:p>
            <a:pPr algn="l">
              <a:defRPr sz="1650" b="0">
                <a:solidFill>
                  <a:srgbClr val="5F6268"/>
                </a:solidFill>
              </a:defRPr>
            </a:pPr>
            <a:r>
              <a:rPr sz="1650" b="0">
                <a:solidFill>
                  <a:srgbClr val="5F6268"/>
                </a:solidFill>
              </a:rPr>
              <a:t>Payments</a:t>
            </a:r>
          </a:p>
          <a:p>
            <a:pPr algn="l">
              <a:defRPr sz="1650" b="0">
                <a:solidFill>
                  <a:srgbClr val="5F6268"/>
                </a:solidFill>
              </a:defRPr>
            </a:pPr>
            <a:r>
              <a:rPr sz="1650" b="0">
                <a:solidFill>
                  <a:srgbClr val="5F6268"/>
                </a:solidFill>
              </a:rPr>
              <a:t>Messages</a:t>
            </a:r>
          </a:p>
          <a:p>
            <a:pPr algn="l">
              <a:defRPr sz="1650" b="0">
                <a:solidFill>
                  <a:srgbClr val="5F6268"/>
                </a:solidFill>
              </a:defRPr>
            </a:pPr>
            <a:r>
              <a:rPr sz="1650" b="0">
                <a:solidFill>
                  <a:srgbClr val="5F6268"/>
                </a:solidFill>
              </a:rPr>
              <a:t>Location</a:t>
            </a:r>
          </a:p>
          <a:p>
            <a:pPr algn="l">
              <a:defRPr sz="1650" b="0">
                <a:solidFill>
                  <a:srgbClr val="5F6268"/>
                </a:solidFill>
              </a:defRPr>
            </a:pPr>
            <a:r>
              <a:rPr sz="1650" b="0">
                <a:solidFill>
                  <a:srgbClr val="5F6268"/>
                </a:solidFill>
              </a:rPr>
              <a:t>Notifications</a:t>
            </a:r>
          </a:p>
        </p:txBody>
      </p:sp>
      <p:sp>
        <p:nvSpPr>
          <p:cNvPr id="10" name="Rectangle 9">
            <a:extLst>
              <a:ext uri="{FF2B5EF4-FFF2-40B4-BE49-F238E27FC236}">
                <a16:creationId xmlns:a16="http://schemas.microsoft.com/office/drawing/2014/main" id="{8D04EB93-43FA-4A48-98BB-B0CCB67FBC03}"/>
              </a:ext>
            </a:extLst>
          </p:cNvPr>
          <p:cNvSpPr>
            <a:spLocks noGrp="1"/>
          </p:cNvSpPr>
          <p:nvPr/>
        </p:nvSpPr>
        <p:spPr>
          <a:xfrm>
            <a:off x="8039100" y="2343150"/>
            <a:ext cx="2952750" cy="2590800"/>
          </a:xfrm>
          <a:prstGeom prst="rect">
            <a:avLst/>
          </a:prstGeom>
          <a:solidFill>
            <a:srgbClr val="FAFAFA"/>
          </a:solidFill>
          <a:ln w="9525">
            <a:solidFill>
              <a:srgbClr val="D8DBE0"/>
            </a:solidFill>
            <a:prstDash val="solid"/>
          </a:ln>
        </p:spPr>
        <p:txBody>
          <a:bodyPr/>
          <a:lstStyle/>
          <a:p>
            <a:endParaRPr lang="en-PH"/>
          </a:p>
        </p:txBody>
      </p:sp>
      <p:sp>
        <p:nvSpPr>
          <p:cNvPr id="11" name="Rectangle 10">
            <a:extLst>
              <a:ext uri="{FF2B5EF4-FFF2-40B4-BE49-F238E27FC236}">
                <a16:creationId xmlns:a16="http://schemas.microsoft.com/office/drawing/2014/main" id="{AF684EAA-993D-43DF-A34F-5411BFE1AFFE}"/>
              </a:ext>
            </a:extLst>
          </p:cNvPr>
          <p:cNvSpPr>
            <a:spLocks noGrp="1"/>
          </p:cNvSpPr>
          <p:nvPr/>
        </p:nvSpPr>
        <p:spPr>
          <a:xfrm>
            <a:off x="8267700" y="2647950"/>
            <a:ext cx="2476500" cy="323850"/>
          </a:xfrm>
          <a:prstGeom prst="rect">
            <a:avLst/>
          </a:prstGeom>
          <a:noFill/>
          <a:ln w="0">
            <a:noFill/>
            <a:prstDash val="solid"/>
          </a:ln>
        </p:spPr>
        <p:txBody>
          <a:bodyPr/>
          <a:lstStyle/>
          <a:p>
            <a:pPr algn="l">
              <a:defRPr sz="1950" b="1">
                <a:solidFill>
                  <a:srgbClr val="111111"/>
                </a:solidFill>
              </a:defRPr>
            </a:pPr>
            <a:r>
              <a:rPr sz="1950" b="1">
                <a:solidFill>
                  <a:srgbClr val="111111"/>
                </a:solidFill>
              </a:rPr>
              <a:t>Administration</a:t>
            </a:r>
          </a:p>
        </p:txBody>
      </p:sp>
      <p:sp>
        <p:nvSpPr>
          <p:cNvPr id="12" name="Rectangle 11">
            <a:extLst>
              <a:ext uri="{FF2B5EF4-FFF2-40B4-BE49-F238E27FC236}">
                <a16:creationId xmlns:a16="http://schemas.microsoft.com/office/drawing/2014/main" id="{71BA6FE9-D2EA-4994-861B-DC23F580A8E1}"/>
              </a:ext>
            </a:extLst>
          </p:cNvPr>
          <p:cNvSpPr>
            <a:spLocks noGrp="1"/>
          </p:cNvSpPr>
          <p:nvPr/>
        </p:nvSpPr>
        <p:spPr>
          <a:xfrm>
            <a:off x="8267700" y="3124200"/>
            <a:ext cx="2286000" cy="1428750"/>
          </a:xfrm>
          <a:prstGeom prst="rect">
            <a:avLst/>
          </a:prstGeom>
          <a:noFill/>
          <a:ln w="0">
            <a:noFill/>
            <a:prstDash val="solid"/>
          </a:ln>
        </p:spPr>
        <p:txBody>
          <a:bodyPr/>
          <a:lstStyle/>
          <a:p>
            <a:pPr algn="l">
              <a:defRPr sz="1650" b="0">
                <a:solidFill>
                  <a:srgbClr val="5F6268"/>
                </a:solidFill>
              </a:defRPr>
            </a:pPr>
            <a:r>
              <a:rPr sz="1650" b="0">
                <a:solidFill>
                  <a:srgbClr val="5F6268"/>
                </a:solidFill>
              </a:rPr>
              <a:t>Admin Dashboard</a:t>
            </a:r>
          </a:p>
          <a:p>
            <a:pPr algn="l">
              <a:defRPr sz="1650" b="0">
                <a:solidFill>
                  <a:srgbClr val="5F6268"/>
                </a:solidFill>
              </a:defRPr>
            </a:pPr>
            <a:r>
              <a:rPr sz="1650" b="0">
                <a:solidFill>
                  <a:srgbClr val="5F6268"/>
                </a:solidFill>
              </a:rPr>
              <a:t>Approvals</a:t>
            </a:r>
          </a:p>
          <a:p>
            <a:pPr algn="l">
              <a:defRPr sz="1650" b="0">
                <a:solidFill>
                  <a:srgbClr val="5F6268"/>
                </a:solidFill>
              </a:defRPr>
            </a:pPr>
            <a:r>
              <a:rPr sz="1650" b="0">
                <a:solidFill>
                  <a:srgbClr val="5F6268"/>
                </a:solidFill>
              </a:rPr>
              <a:t>Reports</a:t>
            </a:r>
          </a:p>
          <a:p>
            <a:pPr algn="l">
              <a:defRPr sz="1650" b="0">
                <a:solidFill>
                  <a:srgbClr val="5F6268"/>
                </a:solidFill>
              </a:defRPr>
            </a:pPr>
            <a:r>
              <a:rPr sz="1650" b="0">
                <a:solidFill>
                  <a:srgbClr val="5F6268"/>
                </a:solidFill>
              </a:rPr>
              <a:t>Users</a:t>
            </a:r>
          </a:p>
          <a:p>
            <a:pPr algn="l">
              <a:defRPr sz="1650" b="0">
                <a:solidFill>
                  <a:srgbClr val="5F6268"/>
                </a:solidFill>
              </a:defRPr>
            </a:pPr>
            <a:r>
              <a:rPr sz="1650" b="0">
                <a:solidFill>
                  <a:srgbClr val="5F6268"/>
                </a:solidFill>
              </a:rPr>
              <a:t>Files</a:t>
            </a:r>
          </a:p>
          <a:p>
            <a:pPr algn="l">
              <a:defRPr sz="1650" b="0">
                <a:solidFill>
                  <a:srgbClr val="5F6268"/>
                </a:solidFill>
              </a:defRPr>
            </a:pPr>
            <a:r>
              <a:rPr sz="1650" b="0">
                <a:solidFill>
                  <a:srgbClr val="5F6268"/>
                </a:solidFill>
              </a:rPr>
              <a:t>Devices</a:t>
            </a:r>
          </a:p>
        </p:txBody>
      </p:sp>
      <p:sp>
        <p:nvSpPr>
          <p:cNvPr id="13" name="Rectangle 12">
            <a:extLst>
              <a:ext uri="{FF2B5EF4-FFF2-40B4-BE49-F238E27FC236}">
                <a16:creationId xmlns:a16="http://schemas.microsoft.com/office/drawing/2014/main" id="{89A6170A-D4AE-4D44-95AB-0F65BB7D58D9}"/>
              </a:ext>
            </a:extLst>
          </p:cNvPr>
          <p:cNvSpPr>
            <a:spLocks noGrp="1"/>
          </p:cNvSpPr>
          <p:nvPr/>
        </p:nvSpPr>
        <p:spPr>
          <a:xfrm>
            <a:off x="1162050" y="5410200"/>
            <a:ext cx="8953500" cy="323850"/>
          </a:xfrm>
          <a:prstGeom prst="rect">
            <a:avLst/>
          </a:prstGeom>
          <a:noFill/>
          <a:ln w="0">
            <a:noFill/>
            <a:prstDash val="solid"/>
          </a:ln>
        </p:spPr>
        <p:txBody>
          <a:bodyPr/>
          <a:lstStyle/>
          <a:p>
            <a:pPr algn="ctr">
              <a:defRPr sz="1725" b="1">
                <a:solidFill>
                  <a:srgbClr val="FF6B2C"/>
                </a:solidFill>
              </a:defRPr>
            </a:pPr>
            <a:r>
              <a:rPr sz="1725" b="1">
                <a:solidFill>
                  <a:srgbClr val="FF6B2C"/>
                </a:solidFill>
              </a:rPr>
              <a:t>Real-time hubs: booking, chat, emergency, location, notification</a:t>
            </a:r>
          </a:p>
        </p:txBody>
      </p:sp>
      <p:sp>
        <p:nvSpPr>
          <p:cNvPr id="14" name="Rectangle 13">
            <a:extLst>
              <a:ext uri="{FF2B5EF4-FFF2-40B4-BE49-F238E27FC236}">
                <a16:creationId xmlns:a16="http://schemas.microsoft.com/office/drawing/2014/main" id="{66A4DB1D-DF68-44F6-887E-E8821E172715}"/>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15" name="Rectangle 14">
            <a:extLst>
              <a:ext uri="{FF2B5EF4-FFF2-40B4-BE49-F238E27FC236}">
                <a16:creationId xmlns:a16="http://schemas.microsoft.com/office/drawing/2014/main" id="{9F7EA4C0-9988-4DC4-B386-23BB1368CE17}"/>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13</a:t>
            </a:r>
          </a:p>
        </p:txBody>
      </p:sp>
    </p:spTree>
    <p:extLst>
      <p:ext uri="{BB962C8B-B14F-4D97-AF65-F5344CB8AC3E}">
        <p14:creationId xmlns:p14="http://schemas.microsoft.com/office/powerpoint/2010/main" val="504368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33802D1-2138-4A04-9930-222721269405}"/>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CFEF81E6-0262-40E3-809E-F2BEE98D8774}"/>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Testing confirms the system is ready for local demonstration.</a:t>
            </a:r>
          </a:p>
        </p:txBody>
      </p:sp>
      <p:sp>
        <p:nvSpPr>
          <p:cNvPr id="3" name="Rectangle 2">
            <a:extLst>
              <a:ext uri="{FF2B5EF4-FFF2-40B4-BE49-F238E27FC236}">
                <a16:creationId xmlns:a16="http://schemas.microsoft.com/office/drawing/2014/main" id="{9D55110C-957A-454E-AFF6-6341CA7BBDDB}"/>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67ADFDF8-7732-4428-91E4-5D0344340136}"/>
              </a:ext>
            </a:extLst>
          </p:cNvPr>
          <p:cNvSpPr>
            <a:spLocks noGrp="1"/>
          </p:cNvSpPr>
          <p:nvPr/>
        </p:nvSpPr>
        <p:spPr>
          <a:xfrm>
            <a:off x="857250" y="2266950"/>
            <a:ext cx="2381250" cy="1066800"/>
          </a:xfrm>
          <a:prstGeom prst="rect">
            <a:avLst/>
          </a:prstGeom>
          <a:solidFill>
            <a:srgbClr val="FAFAFA"/>
          </a:solidFill>
          <a:ln w="9525">
            <a:solidFill>
              <a:srgbClr val="D8DBE0"/>
            </a:solidFill>
            <a:prstDash val="solid"/>
          </a:ln>
        </p:spPr>
        <p:txBody>
          <a:bodyPr/>
          <a:lstStyle/>
          <a:p>
            <a:endParaRPr lang="en-PH"/>
          </a:p>
        </p:txBody>
      </p:sp>
      <p:sp>
        <p:nvSpPr>
          <p:cNvPr id="5" name="Rectangle 4">
            <a:extLst>
              <a:ext uri="{FF2B5EF4-FFF2-40B4-BE49-F238E27FC236}">
                <a16:creationId xmlns:a16="http://schemas.microsoft.com/office/drawing/2014/main" id="{4B7F8E4A-D1A9-4ABB-ADDC-7C59B4E77813}"/>
              </a:ext>
            </a:extLst>
          </p:cNvPr>
          <p:cNvSpPr>
            <a:spLocks noGrp="1"/>
          </p:cNvSpPr>
          <p:nvPr/>
        </p:nvSpPr>
        <p:spPr>
          <a:xfrm>
            <a:off x="1047750" y="2438400"/>
            <a:ext cx="2000250" cy="400050"/>
          </a:xfrm>
          <a:prstGeom prst="rect">
            <a:avLst/>
          </a:prstGeom>
          <a:noFill/>
          <a:ln w="0">
            <a:noFill/>
            <a:prstDash val="solid"/>
          </a:ln>
        </p:spPr>
        <p:txBody>
          <a:bodyPr/>
          <a:lstStyle/>
          <a:p>
            <a:pPr algn="l">
              <a:defRPr sz="2550" b="1">
                <a:solidFill>
                  <a:srgbClr val="FF6B2C"/>
                </a:solidFill>
              </a:defRPr>
            </a:pPr>
            <a:r>
              <a:rPr sz="2550" b="1">
                <a:solidFill>
                  <a:srgbClr val="FF6B2C"/>
                </a:solidFill>
              </a:rPr>
              <a:t>4</a:t>
            </a:r>
          </a:p>
        </p:txBody>
      </p:sp>
      <p:sp>
        <p:nvSpPr>
          <p:cNvPr id="6" name="Rectangle 5">
            <a:extLst>
              <a:ext uri="{FF2B5EF4-FFF2-40B4-BE49-F238E27FC236}">
                <a16:creationId xmlns:a16="http://schemas.microsoft.com/office/drawing/2014/main" id="{39AE91A2-EAF0-4168-9F6B-AFF3023E0659}"/>
              </a:ext>
            </a:extLst>
          </p:cNvPr>
          <p:cNvSpPr>
            <a:spLocks noGrp="1"/>
          </p:cNvSpPr>
          <p:nvPr/>
        </p:nvSpPr>
        <p:spPr>
          <a:xfrm>
            <a:off x="1047750" y="2876550"/>
            <a:ext cx="2000250" cy="323850"/>
          </a:xfrm>
          <a:prstGeom prst="rect">
            <a:avLst/>
          </a:prstGeom>
          <a:noFill/>
          <a:ln w="0">
            <a:noFill/>
            <a:prstDash val="solid"/>
          </a:ln>
        </p:spPr>
        <p:txBody>
          <a:bodyPr/>
          <a:lstStyle/>
          <a:p>
            <a:pPr algn="l">
              <a:defRPr sz="1200" b="0">
                <a:solidFill>
                  <a:srgbClr val="5F6268"/>
                </a:solidFill>
              </a:defRPr>
            </a:pPr>
            <a:r>
              <a:rPr sz="1200" b="0">
                <a:solidFill>
                  <a:srgbClr val="5F6268"/>
                </a:solidFill>
              </a:rPr>
              <a:t>Verified roles</a:t>
            </a:r>
          </a:p>
        </p:txBody>
      </p:sp>
      <p:sp>
        <p:nvSpPr>
          <p:cNvPr id="7" name="Rectangle 6">
            <a:extLst>
              <a:ext uri="{FF2B5EF4-FFF2-40B4-BE49-F238E27FC236}">
                <a16:creationId xmlns:a16="http://schemas.microsoft.com/office/drawing/2014/main" id="{D0B3C20E-4721-4352-B101-ADE39F53FF00}"/>
              </a:ext>
            </a:extLst>
          </p:cNvPr>
          <p:cNvSpPr>
            <a:spLocks noGrp="1"/>
          </p:cNvSpPr>
          <p:nvPr/>
        </p:nvSpPr>
        <p:spPr>
          <a:xfrm>
            <a:off x="3524250" y="2266950"/>
            <a:ext cx="2381250" cy="1066800"/>
          </a:xfrm>
          <a:prstGeom prst="rect">
            <a:avLst/>
          </a:prstGeom>
          <a:solidFill>
            <a:srgbClr val="FAFAFA"/>
          </a:solidFill>
          <a:ln w="9525">
            <a:solidFill>
              <a:srgbClr val="D8DBE0"/>
            </a:solidFill>
            <a:prstDash val="solid"/>
          </a:ln>
        </p:spPr>
        <p:txBody>
          <a:bodyPr/>
          <a:lstStyle/>
          <a:p>
            <a:endParaRPr lang="en-PH"/>
          </a:p>
        </p:txBody>
      </p:sp>
      <p:sp>
        <p:nvSpPr>
          <p:cNvPr id="8" name="Rectangle 7">
            <a:extLst>
              <a:ext uri="{FF2B5EF4-FFF2-40B4-BE49-F238E27FC236}">
                <a16:creationId xmlns:a16="http://schemas.microsoft.com/office/drawing/2014/main" id="{EE79777E-0955-4779-830F-4BACEC82B0DD}"/>
              </a:ext>
            </a:extLst>
          </p:cNvPr>
          <p:cNvSpPr>
            <a:spLocks noGrp="1"/>
          </p:cNvSpPr>
          <p:nvPr/>
        </p:nvSpPr>
        <p:spPr>
          <a:xfrm>
            <a:off x="3714750" y="2438400"/>
            <a:ext cx="2000250" cy="400050"/>
          </a:xfrm>
          <a:prstGeom prst="rect">
            <a:avLst/>
          </a:prstGeom>
          <a:noFill/>
          <a:ln w="0">
            <a:noFill/>
            <a:prstDash val="solid"/>
          </a:ln>
        </p:spPr>
        <p:txBody>
          <a:bodyPr/>
          <a:lstStyle/>
          <a:p>
            <a:pPr algn="l">
              <a:defRPr sz="2550" b="1">
                <a:solidFill>
                  <a:srgbClr val="FF6B2C"/>
                </a:solidFill>
              </a:defRPr>
            </a:pPr>
            <a:r>
              <a:rPr sz="2550" b="1">
                <a:solidFill>
                  <a:srgbClr val="FF6B2C"/>
                </a:solidFill>
              </a:rPr>
              <a:t>36</a:t>
            </a:r>
          </a:p>
        </p:txBody>
      </p:sp>
      <p:sp>
        <p:nvSpPr>
          <p:cNvPr id="9" name="Rectangle 8">
            <a:extLst>
              <a:ext uri="{FF2B5EF4-FFF2-40B4-BE49-F238E27FC236}">
                <a16:creationId xmlns:a16="http://schemas.microsoft.com/office/drawing/2014/main" id="{6FC6EA10-621D-4346-BDDE-52F0A315564A}"/>
              </a:ext>
            </a:extLst>
          </p:cNvPr>
          <p:cNvSpPr>
            <a:spLocks noGrp="1"/>
          </p:cNvSpPr>
          <p:nvPr/>
        </p:nvSpPr>
        <p:spPr>
          <a:xfrm>
            <a:off x="3714750" y="2876550"/>
            <a:ext cx="2000250" cy="323850"/>
          </a:xfrm>
          <a:prstGeom prst="rect">
            <a:avLst/>
          </a:prstGeom>
          <a:noFill/>
          <a:ln w="0">
            <a:noFill/>
            <a:prstDash val="solid"/>
          </a:ln>
        </p:spPr>
        <p:txBody>
          <a:bodyPr/>
          <a:lstStyle/>
          <a:p>
            <a:pPr algn="l">
              <a:defRPr sz="1200" b="0">
                <a:solidFill>
                  <a:srgbClr val="5F6268"/>
                </a:solidFill>
              </a:defRPr>
            </a:pPr>
            <a:r>
              <a:rPr sz="1200" b="0">
                <a:solidFill>
                  <a:srgbClr val="5F6268"/>
                </a:solidFill>
              </a:rPr>
              <a:t>Database tables</a:t>
            </a:r>
          </a:p>
        </p:txBody>
      </p:sp>
      <p:sp>
        <p:nvSpPr>
          <p:cNvPr id="10" name="Rectangle 9">
            <a:extLst>
              <a:ext uri="{FF2B5EF4-FFF2-40B4-BE49-F238E27FC236}">
                <a16:creationId xmlns:a16="http://schemas.microsoft.com/office/drawing/2014/main" id="{19EF5ADE-904A-42EA-8E7B-1ACF0C3D7698}"/>
              </a:ext>
            </a:extLst>
          </p:cNvPr>
          <p:cNvSpPr>
            <a:spLocks noGrp="1"/>
          </p:cNvSpPr>
          <p:nvPr/>
        </p:nvSpPr>
        <p:spPr>
          <a:xfrm>
            <a:off x="6191250" y="2266950"/>
            <a:ext cx="2381250" cy="1066800"/>
          </a:xfrm>
          <a:prstGeom prst="rect">
            <a:avLst/>
          </a:prstGeom>
          <a:solidFill>
            <a:srgbClr val="FAFAFA"/>
          </a:solidFill>
          <a:ln w="9525">
            <a:solidFill>
              <a:srgbClr val="D8DBE0"/>
            </a:solidFill>
            <a:prstDash val="solid"/>
          </a:ln>
        </p:spPr>
        <p:txBody>
          <a:bodyPr/>
          <a:lstStyle/>
          <a:p>
            <a:endParaRPr lang="en-PH"/>
          </a:p>
        </p:txBody>
      </p:sp>
      <p:sp>
        <p:nvSpPr>
          <p:cNvPr id="11" name="Rectangle 10">
            <a:extLst>
              <a:ext uri="{FF2B5EF4-FFF2-40B4-BE49-F238E27FC236}">
                <a16:creationId xmlns:a16="http://schemas.microsoft.com/office/drawing/2014/main" id="{520678A2-319B-4FBF-AA0E-B20E9ED1438B}"/>
              </a:ext>
            </a:extLst>
          </p:cNvPr>
          <p:cNvSpPr>
            <a:spLocks noGrp="1"/>
          </p:cNvSpPr>
          <p:nvPr/>
        </p:nvSpPr>
        <p:spPr>
          <a:xfrm>
            <a:off x="6381750" y="2438400"/>
            <a:ext cx="2000250" cy="400050"/>
          </a:xfrm>
          <a:prstGeom prst="rect">
            <a:avLst/>
          </a:prstGeom>
          <a:noFill/>
          <a:ln w="0">
            <a:noFill/>
            <a:prstDash val="solid"/>
          </a:ln>
        </p:spPr>
        <p:txBody>
          <a:bodyPr/>
          <a:lstStyle/>
          <a:p>
            <a:pPr algn="l">
              <a:defRPr sz="2550" b="1">
                <a:solidFill>
                  <a:srgbClr val="FF6B2C"/>
                </a:solidFill>
              </a:defRPr>
            </a:pPr>
            <a:r>
              <a:rPr sz="2550" b="1">
                <a:solidFill>
                  <a:srgbClr val="FF6B2C"/>
                </a:solidFill>
              </a:rPr>
              <a:t>5</a:t>
            </a:r>
          </a:p>
        </p:txBody>
      </p:sp>
      <p:sp>
        <p:nvSpPr>
          <p:cNvPr id="12" name="Rectangle 11">
            <a:extLst>
              <a:ext uri="{FF2B5EF4-FFF2-40B4-BE49-F238E27FC236}">
                <a16:creationId xmlns:a16="http://schemas.microsoft.com/office/drawing/2014/main" id="{B8E90B5C-5083-4E18-8A24-ED180421B853}"/>
              </a:ext>
            </a:extLst>
          </p:cNvPr>
          <p:cNvSpPr>
            <a:spLocks noGrp="1"/>
          </p:cNvSpPr>
          <p:nvPr/>
        </p:nvSpPr>
        <p:spPr>
          <a:xfrm>
            <a:off x="6381750" y="2876550"/>
            <a:ext cx="2000250" cy="323850"/>
          </a:xfrm>
          <a:prstGeom prst="rect">
            <a:avLst/>
          </a:prstGeom>
          <a:noFill/>
          <a:ln w="0">
            <a:noFill/>
            <a:prstDash val="solid"/>
          </a:ln>
        </p:spPr>
        <p:txBody>
          <a:bodyPr/>
          <a:lstStyle/>
          <a:p>
            <a:pPr algn="l">
              <a:defRPr sz="1200" b="0">
                <a:solidFill>
                  <a:srgbClr val="5F6268"/>
                </a:solidFill>
              </a:defRPr>
            </a:pPr>
            <a:r>
              <a:rPr sz="1200" b="0">
                <a:solidFill>
                  <a:srgbClr val="5F6268"/>
                </a:solidFill>
              </a:rPr>
              <a:t>SignalR hubs</a:t>
            </a:r>
          </a:p>
        </p:txBody>
      </p:sp>
      <p:sp>
        <p:nvSpPr>
          <p:cNvPr id="13" name="Rectangle 12">
            <a:extLst>
              <a:ext uri="{FF2B5EF4-FFF2-40B4-BE49-F238E27FC236}">
                <a16:creationId xmlns:a16="http://schemas.microsoft.com/office/drawing/2014/main" id="{87A97F9B-BAB0-4C91-8FA5-B83AB1AE0AB7}"/>
              </a:ext>
            </a:extLst>
          </p:cNvPr>
          <p:cNvSpPr>
            <a:spLocks noGrp="1"/>
          </p:cNvSpPr>
          <p:nvPr/>
        </p:nvSpPr>
        <p:spPr>
          <a:xfrm>
            <a:off x="8858250" y="2266950"/>
            <a:ext cx="2381250" cy="1066800"/>
          </a:xfrm>
          <a:prstGeom prst="rect">
            <a:avLst/>
          </a:prstGeom>
          <a:solidFill>
            <a:srgbClr val="FAFAFA"/>
          </a:solidFill>
          <a:ln w="9525">
            <a:solidFill>
              <a:srgbClr val="D8DBE0"/>
            </a:solidFill>
            <a:prstDash val="solid"/>
          </a:ln>
        </p:spPr>
        <p:txBody>
          <a:bodyPr/>
          <a:lstStyle/>
          <a:p>
            <a:endParaRPr lang="en-PH"/>
          </a:p>
        </p:txBody>
      </p:sp>
      <p:sp>
        <p:nvSpPr>
          <p:cNvPr id="14" name="Rectangle 13">
            <a:extLst>
              <a:ext uri="{FF2B5EF4-FFF2-40B4-BE49-F238E27FC236}">
                <a16:creationId xmlns:a16="http://schemas.microsoft.com/office/drawing/2014/main" id="{C33B7780-D07E-4D14-87B3-8FE22EA7EA31}"/>
              </a:ext>
            </a:extLst>
          </p:cNvPr>
          <p:cNvSpPr>
            <a:spLocks noGrp="1"/>
          </p:cNvSpPr>
          <p:nvPr/>
        </p:nvSpPr>
        <p:spPr>
          <a:xfrm>
            <a:off x="9048750" y="2438400"/>
            <a:ext cx="2000250" cy="400050"/>
          </a:xfrm>
          <a:prstGeom prst="rect">
            <a:avLst/>
          </a:prstGeom>
          <a:noFill/>
          <a:ln w="0">
            <a:noFill/>
            <a:prstDash val="solid"/>
          </a:ln>
        </p:spPr>
        <p:txBody>
          <a:bodyPr/>
          <a:lstStyle/>
          <a:p>
            <a:pPr algn="l">
              <a:defRPr sz="2550" b="1">
                <a:solidFill>
                  <a:srgbClr val="FF6B2C"/>
                </a:solidFill>
              </a:defRPr>
            </a:pPr>
            <a:r>
              <a:rPr sz="2550" b="1">
                <a:solidFill>
                  <a:srgbClr val="FF6B2C"/>
                </a:solidFill>
              </a:rPr>
              <a:t>6</a:t>
            </a:r>
          </a:p>
        </p:txBody>
      </p:sp>
      <p:sp>
        <p:nvSpPr>
          <p:cNvPr id="15" name="Rectangle 14">
            <a:extLst>
              <a:ext uri="{FF2B5EF4-FFF2-40B4-BE49-F238E27FC236}">
                <a16:creationId xmlns:a16="http://schemas.microsoft.com/office/drawing/2014/main" id="{300868DB-7187-448F-B8E5-68DDA24D5A2F}"/>
              </a:ext>
            </a:extLst>
          </p:cNvPr>
          <p:cNvSpPr>
            <a:spLocks noGrp="1"/>
          </p:cNvSpPr>
          <p:nvPr/>
        </p:nvSpPr>
        <p:spPr>
          <a:xfrm>
            <a:off x="9048750" y="2876550"/>
            <a:ext cx="2000250" cy="323850"/>
          </a:xfrm>
          <a:prstGeom prst="rect">
            <a:avLst/>
          </a:prstGeom>
          <a:noFill/>
          <a:ln w="0">
            <a:noFill/>
            <a:prstDash val="solid"/>
          </a:ln>
        </p:spPr>
        <p:txBody>
          <a:bodyPr/>
          <a:lstStyle/>
          <a:p>
            <a:pPr algn="l">
              <a:defRPr sz="1200" b="0">
                <a:solidFill>
                  <a:srgbClr val="5F6268"/>
                </a:solidFill>
              </a:defRPr>
            </a:pPr>
            <a:r>
              <a:rPr sz="1200" b="0">
                <a:solidFill>
                  <a:srgbClr val="5F6268"/>
                </a:solidFill>
              </a:rPr>
              <a:t>Main projects</a:t>
            </a:r>
          </a:p>
        </p:txBody>
      </p:sp>
      <p:sp>
        <p:nvSpPr>
          <p:cNvPr id="16" name="Rectangle 15">
            <a:extLst>
              <a:ext uri="{FF2B5EF4-FFF2-40B4-BE49-F238E27FC236}">
                <a16:creationId xmlns:a16="http://schemas.microsoft.com/office/drawing/2014/main" id="{307D50CE-463B-4D7A-83E1-FF92C79276EA}"/>
              </a:ext>
            </a:extLst>
          </p:cNvPr>
          <p:cNvSpPr>
            <a:spLocks noGrp="1"/>
          </p:cNvSpPr>
          <p:nvPr/>
        </p:nvSpPr>
        <p:spPr>
          <a:xfrm>
            <a:off x="1104900" y="4086225"/>
            <a:ext cx="76200" cy="76200"/>
          </a:xfrm>
          <a:prstGeom prst="rect">
            <a:avLst/>
          </a:prstGeom>
          <a:solidFill>
            <a:srgbClr val="FF6B2C"/>
          </a:solidFill>
          <a:ln w="0">
            <a:solidFill>
              <a:srgbClr val="FF6B2C"/>
            </a:solidFill>
            <a:prstDash val="solid"/>
          </a:ln>
        </p:spPr>
        <p:txBody>
          <a:bodyPr/>
          <a:lstStyle/>
          <a:p>
            <a:endParaRPr lang="en-PH"/>
          </a:p>
        </p:txBody>
      </p:sp>
      <p:sp>
        <p:nvSpPr>
          <p:cNvPr id="17" name="Rectangle 16">
            <a:extLst>
              <a:ext uri="{FF2B5EF4-FFF2-40B4-BE49-F238E27FC236}">
                <a16:creationId xmlns:a16="http://schemas.microsoft.com/office/drawing/2014/main" id="{AD56D3DF-0CA7-4B96-9E1F-1EDC25332617}"/>
              </a:ext>
            </a:extLst>
          </p:cNvPr>
          <p:cNvSpPr>
            <a:spLocks noGrp="1"/>
          </p:cNvSpPr>
          <p:nvPr/>
        </p:nvSpPr>
        <p:spPr>
          <a:xfrm>
            <a:off x="1314450" y="4000500"/>
            <a:ext cx="9315450" cy="438150"/>
          </a:xfrm>
          <a:prstGeom prst="rect">
            <a:avLst/>
          </a:prstGeom>
          <a:noFill/>
          <a:ln w="0">
            <a:noFill/>
            <a:prstDash val="solid"/>
          </a:ln>
        </p:spPr>
        <p:txBody>
          <a:bodyPr/>
          <a:lstStyle/>
          <a:p>
            <a:pPr algn="l">
              <a:defRPr sz="1500" b="0">
                <a:solidFill>
                  <a:srgbClr val="111111"/>
                </a:solidFill>
              </a:defRPr>
            </a:pPr>
            <a:r>
              <a:rPr sz="1500" b="0">
                <a:solidFill>
                  <a:srgbClr val="111111"/>
                </a:solidFill>
              </a:rPr>
              <a:t>API build, health endpoint, login, authorization, and role data passed.</a:t>
            </a:r>
          </a:p>
        </p:txBody>
      </p:sp>
      <p:sp>
        <p:nvSpPr>
          <p:cNvPr id="18" name="Rectangle 17">
            <a:extLst>
              <a:ext uri="{FF2B5EF4-FFF2-40B4-BE49-F238E27FC236}">
                <a16:creationId xmlns:a16="http://schemas.microsoft.com/office/drawing/2014/main" id="{8531C431-81B6-443A-9048-4949FA5C0196}"/>
              </a:ext>
            </a:extLst>
          </p:cNvPr>
          <p:cNvSpPr>
            <a:spLocks noGrp="1"/>
          </p:cNvSpPr>
          <p:nvPr/>
        </p:nvSpPr>
        <p:spPr>
          <a:xfrm>
            <a:off x="1104900" y="4543425"/>
            <a:ext cx="76200" cy="76200"/>
          </a:xfrm>
          <a:prstGeom prst="rect">
            <a:avLst/>
          </a:prstGeom>
          <a:solidFill>
            <a:srgbClr val="FF6B2C"/>
          </a:solidFill>
          <a:ln w="0">
            <a:solidFill>
              <a:srgbClr val="FF6B2C"/>
            </a:solidFill>
            <a:prstDash val="solid"/>
          </a:ln>
        </p:spPr>
        <p:txBody>
          <a:bodyPr/>
          <a:lstStyle/>
          <a:p>
            <a:endParaRPr lang="en-PH"/>
          </a:p>
        </p:txBody>
      </p:sp>
      <p:sp>
        <p:nvSpPr>
          <p:cNvPr id="19" name="Rectangle 18">
            <a:extLst>
              <a:ext uri="{FF2B5EF4-FFF2-40B4-BE49-F238E27FC236}">
                <a16:creationId xmlns:a16="http://schemas.microsoft.com/office/drawing/2014/main" id="{8BFF693C-2A15-46FA-9B49-2DA38D532F7C}"/>
              </a:ext>
            </a:extLst>
          </p:cNvPr>
          <p:cNvSpPr>
            <a:spLocks noGrp="1"/>
          </p:cNvSpPr>
          <p:nvPr/>
        </p:nvSpPr>
        <p:spPr>
          <a:xfrm>
            <a:off x="1314450" y="4457700"/>
            <a:ext cx="9315450" cy="438150"/>
          </a:xfrm>
          <a:prstGeom prst="rect">
            <a:avLst/>
          </a:prstGeom>
          <a:noFill/>
          <a:ln w="0">
            <a:noFill/>
            <a:prstDash val="solid"/>
          </a:ln>
        </p:spPr>
        <p:txBody>
          <a:bodyPr/>
          <a:lstStyle/>
          <a:p>
            <a:pPr algn="l">
              <a:defRPr sz="1500" b="0">
                <a:solidFill>
                  <a:srgbClr val="111111"/>
                </a:solidFill>
              </a:defRPr>
            </a:pPr>
            <a:r>
              <a:rPr sz="1500" b="0">
                <a:solidFill>
                  <a:srgbClr val="111111"/>
                </a:solidFill>
              </a:rPr>
              <a:t>Customer, mechanic, shop admin, and system admin workflows were smoke-tested.</a:t>
            </a:r>
          </a:p>
        </p:txBody>
      </p:sp>
      <p:sp>
        <p:nvSpPr>
          <p:cNvPr id="20" name="Rectangle 19">
            <a:extLst>
              <a:ext uri="{FF2B5EF4-FFF2-40B4-BE49-F238E27FC236}">
                <a16:creationId xmlns:a16="http://schemas.microsoft.com/office/drawing/2014/main" id="{370483B7-F2FA-431E-8F54-F183914C49CB}"/>
              </a:ext>
            </a:extLst>
          </p:cNvPr>
          <p:cNvSpPr>
            <a:spLocks noGrp="1"/>
          </p:cNvSpPr>
          <p:nvPr/>
        </p:nvSpPr>
        <p:spPr>
          <a:xfrm>
            <a:off x="1104900" y="5000625"/>
            <a:ext cx="76200" cy="76200"/>
          </a:xfrm>
          <a:prstGeom prst="rect">
            <a:avLst/>
          </a:prstGeom>
          <a:solidFill>
            <a:srgbClr val="FF6B2C"/>
          </a:solidFill>
          <a:ln w="0">
            <a:solidFill>
              <a:srgbClr val="FF6B2C"/>
            </a:solidFill>
            <a:prstDash val="solid"/>
          </a:ln>
        </p:spPr>
        <p:txBody>
          <a:bodyPr/>
          <a:lstStyle/>
          <a:p>
            <a:endParaRPr lang="en-PH"/>
          </a:p>
        </p:txBody>
      </p:sp>
      <p:sp>
        <p:nvSpPr>
          <p:cNvPr id="21" name="Rectangle 20">
            <a:extLst>
              <a:ext uri="{FF2B5EF4-FFF2-40B4-BE49-F238E27FC236}">
                <a16:creationId xmlns:a16="http://schemas.microsoft.com/office/drawing/2014/main" id="{192A51DE-47EF-412F-8FD1-62946667F7AA}"/>
              </a:ext>
            </a:extLst>
          </p:cNvPr>
          <p:cNvSpPr>
            <a:spLocks noGrp="1"/>
          </p:cNvSpPr>
          <p:nvPr/>
        </p:nvSpPr>
        <p:spPr>
          <a:xfrm>
            <a:off x="1314450" y="4914900"/>
            <a:ext cx="9315450" cy="438150"/>
          </a:xfrm>
          <a:prstGeom prst="rect">
            <a:avLst/>
          </a:prstGeom>
          <a:noFill/>
          <a:ln w="0">
            <a:noFill/>
            <a:prstDash val="solid"/>
          </a:ln>
        </p:spPr>
        <p:txBody>
          <a:bodyPr/>
          <a:lstStyle/>
          <a:p>
            <a:pPr algn="l">
              <a:defRPr sz="1500" b="0">
                <a:solidFill>
                  <a:srgbClr val="111111"/>
                </a:solidFill>
              </a:defRPr>
            </a:pPr>
            <a:r>
              <a:rPr sz="1500" b="0">
                <a:solidFill>
                  <a:srgbClr val="111111"/>
                </a:solidFill>
              </a:rPr>
              <a:t>Android build and emulator launch were verified for the mobile app.</a:t>
            </a:r>
          </a:p>
        </p:txBody>
      </p:sp>
      <p:sp>
        <p:nvSpPr>
          <p:cNvPr id="22" name="Rectangle 21">
            <a:extLst>
              <a:ext uri="{FF2B5EF4-FFF2-40B4-BE49-F238E27FC236}">
                <a16:creationId xmlns:a16="http://schemas.microsoft.com/office/drawing/2014/main" id="{E4603BF1-B167-466B-9929-3A45F1B812F1}"/>
              </a:ext>
            </a:extLst>
          </p:cNvPr>
          <p:cNvSpPr>
            <a:spLocks noGrp="1"/>
          </p:cNvSpPr>
          <p:nvPr/>
        </p:nvSpPr>
        <p:spPr>
          <a:xfrm>
            <a:off x="1104900" y="5457825"/>
            <a:ext cx="76200" cy="76200"/>
          </a:xfrm>
          <a:prstGeom prst="rect">
            <a:avLst/>
          </a:prstGeom>
          <a:solidFill>
            <a:srgbClr val="FF6B2C"/>
          </a:solidFill>
          <a:ln w="0">
            <a:solidFill>
              <a:srgbClr val="FF6B2C"/>
            </a:solidFill>
            <a:prstDash val="solid"/>
          </a:ln>
        </p:spPr>
        <p:txBody>
          <a:bodyPr/>
          <a:lstStyle/>
          <a:p>
            <a:endParaRPr lang="en-PH"/>
          </a:p>
        </p:txBody>
      </p:sp>
      <p:sp>
        <p:nvSpPr>
          <p:cNvPr id="23" name="Rectangle 22">
            <a:extLst>
              <a:ext uri="{FF2B5EF4-FFF2-40B4-BE49-F238E27FC236}">
                <a16:creationId xmlns:a16="http://schemas.microsoft.com/office/drawing/2014/main" id="{5B0CBB24-ACDC-4FB2-80ED-3E43163BB2EA}"/>
              </a:ext>
            </a:extLst>
          </p:cNvPr>
          <p:cNvSpPr>
            <a:spLocks noGrp="1"/>
          </p:cNvSpPr>
          <p:nvPr/>
        </p:nvSpPr>
        <p:spPr>
          <a:xfrm>
            <a:off x="1314450" y="5372100"/>
            <a:ext cx="9315450" cy="438150"/>
          </a:xfrm>
          <a:prstGeom prst="rect">
            <a:avLst/>
          </a:prstGeom>
          <a:noFill/>
          <a:ln w="0">
            <a:noFill/>
            <a:prstDash val="solid"/>
          </a:ln>
        </p:spPr>
        <p:txBody>
          <a:bodyPr/>
          <a:lstStyle/>
          <a:p>
            <a:pPr algn="l">
              <a:defRPr sz="1500" b="0">
                <a:solidFill>
                  <a:srgbClr val="111111"/>
                </a:solidFill>
              </a:defRPr>
            </a:pPr>
            <a:r>
              <a:rPr sz="1500" b="0">
                <a:solidFill>
                  <a:srgbClr val="111111"/>
                </a:solidFill>
              </a:rPr>
              <a:t>Production payment, OAuth, email, notification, and storage keys remain external requirements.</a:t>
            </a:r>
          </a:p>
        </p:txBody>
      </p:sp>
      <p:sp>
        <p:nvSpPr>
          <p:cNvPr id="24" name="Rectangle 23">
            <a:extLst>
              <a:ext uri="{FF2B5EF4-FFF2-40B4-BE49-F238E27FC236}">
                <a16:creationId xmlns:a16="http://schemas.microsoft.com/office/drawing/2014/main" id="{75C030C1-E8F6-4609-88E6-0B5D2CE65EB6}"/>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25" name="Rectangle 24">
            <a:extLst>
              <a:ext uri="{FF2B5EF4-FFF2-40B4-BE49-F238E27FC236}">
                <a16:creationId xmlns:a16="http://schemas.microsoft.com/office/drawing/2014/main" id="{A938732E-C3E6-456D-B8F1-4752E019E0A1}"/>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14</a:t>
            </a:r>
          </a:p>
        </p:txBody>
      </p:sp>
    </p:spTree>
    <p:extLst>
      <p:ext uri="{BB962C8B-B14F-4D97-AF65-F5344CB8AC3E}">
        <p14:creationId xmlns:p14="http://schemas.microsoft.com/office/powerpoint/2010/main" val="467136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EAAC9B2-6C1B-4604-A453-E6F54603279E}"/>
              </a:ext>
            </a:extLst>
          </p:cNvPr>
          <p:cNvSpPr>
            <a:spLocks noGrp="1"/>
          </p:cNvSpPr>
          <p:nvPr/>
        </p:nvSpPr>
        <p:spPr>
          <a:xfrm>
            <a:off x="609600" y="381000"/>
            <a:ext cx="5143500" cy="266700"/>
          </a:xfrm>
          <a:prstGeom prst="rect">
            <a:avLst/>
          </a:prstGeom>
          <a:noFill/>
          <a:ln w="0">
            <a:noFill/>
            <a:prstDash val="solid"/>
          </a:ln>
        </p:spPr>
        <p:txBody>
          <a:bodyPr/>
          <a:lstStyle/>
          <a:p>
            <a:pPr algn="l">
              <a:defRPr sz="1050" b="1">
                <a:solidFill>
                  <a:srgbClr val="FF6B2C"/>
                </a:solidFill>
              </a:defRPr>
            </a:pPr>
            <a:r>
              <a:rPr sz="1050" b="1">
                <a:solidFill>
                  <a:srgbClr val="FF6B2C"/>
                </a:solidFill>
              </a:rPr>
              <a:t>BIKEMATE PROJECT PRESENTATION</a:t>
            </a:r>
          </a:p>
        </p:txBody>
      </p:sp>
      <p:sp>
        <p:nvSpPr>
          <p:cNvPr id="2" name="Rectangle 1">
            <a:extLst>
              <a:ext uri="{FF2B5EF4-FFF2-40B4-BE49-F238E27FC236}">
                <a16:creationId xmlns:a16="http://schemas.microsoft.com/office/drawing/2014/main" id="{8B710054-DA09-47B6-99E6-47EBADC2D91A}"/>
              </a:ext>
            </a:extLst>
          </p:cNvPr>
          <p:cNvSpPr>
            <a:spLocks noGrp="1"/>
          </p:cNvSpPr>
          <p:nvPr/>
        </p:nvSpPr>
        <p:spPr>
          <a:xfrm>
            <a:off x="609600" y="781050"/>
            <a:ext cx="8572500" cy="876300"/>
          </a:xfrm>
          <a:prstGeom prst="rect">
            <a:avLst/>
          </a:prstGeom>
          <a:noFill/>
          <a:ln w="0">
            <a:noFill/>
            <a:prstDash val="solid"/>
          </a:ln>
        </p:spPr>
        <p:txBody>
          <a:bodyPr/>
          <a:lstStyle/>
          <a:p>
            <a:pPr algn="l">
              <a:defRPr sz="3150" b="1">
                <a:solidFill>
                  <a:srgbClr val="111111"/>
                </a:solidFill>
              </a:defRPr>
            </a:pPr>
            <a:r>
              <a:rPr sz="3150" b="1">
                <a:solidFill>
                  <a:srgbClr val="111111"/>
                </a:solidFill>
              </a:rPr>
              <a:t>BikeMate demonstrates a complete foundation for motorcycle service assistance.</a:t>
            </a:r>
          </a:p>
        </p:txBody>
      </p:sp>
      <p:sp>
        <p:nvSpPr>
          <p:cNvPr id="3" name="Rectangle 2">
            <a:extLst>
              <a:ext uri="{FF2B5EF4-FFF2-40B4-BE49-F238E27FC236}">
                <a16:creationId xmlns:a16="http://schemas.microsoft.com/office/drawing/2014/main" id="{B4323AFD-84F6-4444-B05A-233C3665EC8E}"/>
              </a:ext>
            </a:extLst>
          </p:cNvPr>
          <p:cNvSpPr>
            <a:spLocks noGrp="1"/>
          </p:cNvSpPr>
          <p:nvPr/>
        </p:nvSpPr>
        <p:spPr>
          <a:xfrm>
            <a:off x="609600" y="1695450"/>
            <a:ext cx="10972800" cy="9525"/>
          </a:xfrm>
          <a:prstGeom prst="rect">
            <a:avLst/>
          </a:prstGeom>
          <a:solidFill>
            <a:srgbClr val="B9BDC4"/>
          </a:solidFill>
          <a:ln w="0">
            <a:solidFill>
              <a:srgbClr val="B9BDC4"/>
            </a:solidFill>
            <a:prstDash val="solid"/>
          </a:ln>
        </p:spPr>
        <p:txBody>
          <a:bodyPr/>
          <a:lstStyle/>
          <a:p>
            <a:endParaRPr lang="en-PH"/>
          </a:p>
        </p:txBody>
      </p:sp>
      <p:sp>
        <p:nvSpPr>
          <p:cNvPr id="4" name="Rectangle 3">
            <a:extLst>
              <a:ext uri="{FF2B5EF4-FFF2-40B4-BE49-F238E27FC236}">
                <a16:creationId xmlns:a16="http://schemas.microsoft.com/office/drawing/2014/main" id="{191ACC7A-C880-4102-843C-0DEB6FA6FB8F}"/>
              </a:ext>
            </a:extLst>
          </p:cNvPr>
          <p:cNvSpPr>
            <a:spLocks noGrp="1"/>
          </p:cNvSpPr>
          <p:nvPr/>
        </p:nvSpPr>
        <p:spPr>
          <a:xfrm>
            <a:off x="952500" y="2266950"/>
            <a:ext cx="9429750" cy="1714500"/>
          </a:xfrm>
          <a:prstGeom prst="rect">
            <a:avLst/>
          </a:prstGeom>
          <a:noFill/>
          <a:ln w="0">
            <a:noFill/>
            <a:prstDash val="solid"/>
          </a:ln>
        </p:spPr>
        <p:txBody>
          <a:bodyPr/>
          <a:lstStyle/>
          <a:p>
            <a:pPr algn="l">
              <a:defRPr sz="2100" b="0">
                <a:solidFill>
                  <a:srgbClr val="111111"/>
                </a:solidFill>
              </a:defRPr>
            </a:pPr>
            <a:r>
              <a:rPr sz="2100" b="0">
                <a:solidFill>
                  <a:srgbClr val="111111"/>
                </a:solidFill>
              </a:rPr>
              <a:t>The project delivers a working full-stack prototype with mobile apps, web administration, backend APIs, real-time hubs, database schema, tests, and demo assets. Its value is the organized connection between customers who need help, mechanics who provide service, shops that manage operations, and administrators who maintain trust.</a:t>
            </a:r>
          </a:p>
        </p:txBody>
      </p:sp>
      <p:sp>
        <p:nvSpPr>
          <p:cNvPr id="5" name="Rectangle 4">
            <a:extLst>
              <a:ext uri="{FF2B5EF4-FFF2-40B4-BE49-F238E27FC236}">
                <a16:creationId xmlns:a16="http://schemas.microsoft.com/office/drawing/2014/main" id="{FA376444-4CF2-49AA-AA23-45E93F5E73DA}"/>
              </a:ext>
            </a:extLst>
          </p:cNvPr>
          <p:cNvSpPr>
            <a:spLocks noGrp="1"/>
          </p:cNvSpPr>
          <p:nvPr/>
        </p:nvSpPr>
        <p:spPr>
          <a:xfrm>
            <a:off x="952500" y="4476750"/>
            <a:ext cx="9429750" cy="876300"/>
          </a:xfrm>
          <a:prstGeom prst="rect">
            <a:avLst/>
          </a:prstGeom>
          <a:solidFill>
            <a:srgbClr val="FFF1EA"/>
          </a:solidFill>
          <a:ln w="9525">
            <a:solidFill>
              <a:srgbClr val="D8DBE0"/>
            </a:solidFill>
            <a:prstDash val="solid"/>
          </a:ln>
        </p:spPr>
        <p:txBody>
          <a:bodyPr/>
          <a:lstStyle/>
          <a:p>
            <a:endParaRPr lang="en-PH"/>
          </a:p>
        </p:txBody>
      </p:sp>
      <p:sp>
        <p:nvSpPr>
          <p:cNvPr id="6" name="Rectangle 5">
            <a:extLst>
              <a:ext uri="{FF2B5EF4-FFF2-40B4-BE49-F238E27FC236}">
                <a16:creationId xmlns:a16="http://schemas.microsoft.com/office/drawing/2014/main" id="{BAB73E47-342C-4AC3-83F0-F19D9DEE330E}"/>
              </a:ext>
            </a:extLst>
          </p:cNvPr>
          <p:cNvSpPr>
            <a:spLocks noGrp="1"/>
          </p:cNvSpPr>
          <p:nvPr/>
        </p:nvSpPr>
        <p:spPr>
          <a:xfrm>
            <a:off x="1257300" y="4724400"/>
            <a:ext cx="1905000" cy="285750"/>
          </a:xfrm>
          <a:prstGeom prst="rect">
            <a:avLst/>
          </a:prstGeom>
          <a:noFill/>
          <a:ln w="0">
            <a:noFill/>
            <a:prstDash val="solid"/>
          </a:ln>
        </p:spPr>
        <p:txBody>
          <a:bodyPr/>
          <a:lstStyle/>
          <a:p>
            <a:pPr algn="l">
              <a:defRPr sz="1800" b="1">
                <a:solidFill>
                  <a:srgbClr val="FF6B2C"/>
                </a:solidFill>
              </a:defRPr>
            </a:pPr>
            <a:r>
              <a:rPr sz="1800" b="1">
                <a:solidFill>
                  <a:srgbClr val="FF6B2C"/>
                </a:solidFill>
              </a:rPr>
              <a:t>Conclusion</a:t>
            </a:r>
          </a:p>
        </p:txBody>
      </p:sp>
      <p:sp>
        <p:nvSpPr>
          <p:cNvPr id="7" name="Rectangle 6">
            <a:extLst>
              <a:ext uri="{FF2B5EF4-FFF2-40B4-BE49-F238E27FC236}">
                <a16:creationId xmlns:a16="http://schemas.microsoft.com/office/drawing/2014/main" id="{4FD9924A-CA98-4F36-B0D0-2122006F2567}"/>
              </a:ext>
            </a:extLst>
          </p:cNvPr>
          <p:cNvSpPr>
            <a:spLocks noGrp="1"/>
          </p:cNvSpPr>
          <p:nvPr/>
        </p:nvSpPr>
        <p:spPr>
          <a:xfrm>
            <a:off x="3200400" y="4724400"/>
            <a:ext cx="6477000" cy="304800"/>
          </a:xfrm>
          <a:prstGeom prst="rect">
            <a:avLst/>
          </a:prstGeom>
          <a:noFill/>
          <a:ln w="0">
            <a:noFill/>
            <a:prstDash val="solid"/>
          </a:ln>
        </p:spPr>
        <p:txBody>
          <a:bodyPr/>
          <a:lstStyle/>
          <a:p>
            <a:pPr algn="l">
              <a:defRPr sz="1800" b="1">
                <a:solidFill>
                  <a:srgbClr val="111111"/>
                </a:solidFill>
              </a:defRPr>
            </a:pPr>
            <a:r>
              <a:rPr sz="1800" b="1">
                <a:solidFill>
                  <a:srgbClr val="111111"/>
                </a:solidFill>
              </a:rPr>
              <a:t>BikeMate is ready for formal presentation and local project demonstration.</a:t>
            </a:r>
          </a:p>
        </p:txBody>
      </p:sp>
      <p:sp>
        <p:nvSpPr>
          <p:cNvPr id="8" name="Rectangle 7">
            <a:extLst>
              <a:ext uri="{FF2B5EF4-FFF2-40B4-BE49-F238E27FC236}">
                <a16:creationId xmlns:a16="http://schemas.microsoft.com/office/drawing/2014/main" id="{3E664192-0E14-4129-AB13-C804D9866E0D}"/>
              </a:ext>
            </a:extLst>
          </p:cNvPr>
          <p:cNvSpPr>
            <a:spLocks noGrp="1"/>
          </p:cNvSpPr>
          <p:nvPr/>
        </p:nvSpPr>
        <p:spPr>
          <a:xfrm>
            <a:off x="609600" y="6343650"/>
            <a:ext cx="5715000" cy="228600"/>
          </a:xfrm>
          <a:prstGeom prst="rect">
            <a:avLst/>
          </a:prstGeom>
          <a:noFill/>
          <a:ln w="0">
            <a:noFill/>
            <a:prstDash val="solid"/>
          </a:ln>
        </p:spPr>
        <p:txBody>
          <a:bodyPr/>
          <a:lstStyle/>
          <a:p>
            <a:pPr algn="l">
              <a:defRPr sz="900" b="0">
                <a:solidFill>
                  <a:srgbClr val="5F6268"/>
                </a:solidFill>
              </a:defRPr>
            </a:pPr>
            <a:r>
              <a:rPr sz="900" b="0">
                <a:solidFill>
                  <a:srgbClr val="5F6268"/>
                </a:solidFill>
              </a:rPr>
              <a:t>BikeMate Motorcycle Service Assistance System</a:t>
            </a:r>
          </a:p>
        </p:txBody>
      </p:sp>
      <p:sp>
        <p:nvSpPr>
          <p:cNvPr id="9" name="Rectangle 8">
            <a:extLst>
              <a:ext uri="{FF2B5EF4-FFF2-40B4-BE49-F238E27FC236}">
                <a16:creationId xmlns:a16="http://schemas.microsoft.com/office/drawing/2014/main" id="{42C54BDE-21CF-487D-8029-5A180F6ED010}"/>
              </a:ext>
            </a:extLst>
          </p:cNvPr>
          <p:cNvSpPr>
            <a:spLocks noGrp="1"/>
          </p:cNvSpPr>
          <p:nvPr/>
        </p:nvSpPr>
        <p:spPr>
          <a:xfrm>
            <a:off x="11049000" y="6305550"/>
            <a:ext cx="533400" cy="266700"/>
          </a:xfrm>
          <a:prstGeom prst="rect">
            <a:avLst/>
          </a:prstGeom>
          <a:noFill/>
          <a:ln w="0">
            <a:noFill/>
            <a:prstDash val="solid"/>
          </a:ln>
        </p:spPr>
        <p:txBody>
          <a:bodyPr/>
          <a:lstStyle/>
          <a:p>
            <a:pPr algn="r">
              <a:defRPr sz="1050" b="1">
                <a:solidFill>
                  <a:srgbClr val="5F6268"/>
                </a:solidFill>
              </a:defRPr>
            </a:pPr>
            <a:r>
              <a:rPr sz="1050" b="1">
                <a:solidFill>
                  <a:srgbClr val="5F6268"/>
                </a:solidFill>
              </a:rPr>
              <a:t>15</a:t>
            </a:r>
          </a:p>
        </p:txBody>
      </p:sp>
    </p:spTree>
    <p:extLst>
      <p:ext uri="{BB962C8B-B14F-4D97-AF65-F5344CB8AC3E}">
        <p14:creationId xmlns:p14="http://schemas.microsoft.com/office/powerpoint/2010/main" val="134998442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1199</Words>
  <Application>Microsoft Office PowerPoint</Application>
  <DocSecurity>0</DocSecurity>
  <PresentationFormat>Widescreen</PresentationFormat>
  <Paragraphs>196</Paragraphs>
  <Slides>15</Slides>
  <Notes>15</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ISAIAH ANDREI I. .NODA</cp:lastModifiedBy>
  <cp:revision>1</cp:revision>
  <dcterms:created xsi:type="dcterms:W3CDTF">2026-07-03T06:55:19Z</dcterms:created>
  <dcterms:modified xsi:type="dcterms:W3CDTF">2026-07-03T07:07:16Z</dcterms:modified>
</cp:coreProperties>
</file>